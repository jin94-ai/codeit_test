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4630400" cy="8229600"/>
  <p:notesSz cx="8229600" cy="14630400"/>
  <p:embeddedFontLst>
    <p:embeddedFont>
      <p:font typeface="Kanit Light"/>
      <p:regular r:id="rId27"/>
    </p:embeddedFont>
    <p:embeddedFont>
      <p:font typeface="Kanit Light"/>
      <p:regular r:id="rId28"/>
    </p:embeddedFont>
    <p:embeddedFont>
      <p:font typeface="Kanit Light"/>
      <p:regular r:id="rId29"/>
    </p:embeddedFont>
    <p:embeddedFont>
      <p:font typeface="Kanit Light"/>
      <p:regular r:id="rId30"/>
    </p:embeddedFont>
    <p:embeddedFont>
      <p:font typeface="Martel Sans"/>
      <p:regular r:id="rId31"/>
    </p:embeddedFont>
    <p:embeddedFont>
      <p:font typeface="Martel Sans"/>
      <p:regular r:id="rId3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6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slideLayout" Target="../slideLayouts/slideLayout18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9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956322"/>
            <a:ext cx="715779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Health Eat - AI 알약 인식 프로젝트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280190" y="3874056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코드잇 8팀 최종 발표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441483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2025.12.04 ~ 12.23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80190" y="4955619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팀원: 이진석(Leader), 김민우, 김나연, 김보윤, 황유민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576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목차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9268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707005"/>
            <a:ext cx="4215289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8519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프로젝트 개요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281124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Kaggle 챌린지 목표 및 핵심 성과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07437" y="239268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2707005"/>
            <a:ext cx="4215408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9" name="Text 7"/>
          <p:cNvSpPr/>
          <p:nvPr/>
        </p:nvSpPr>
        <p:spPr>
          <a:xfrm>
            <a:off x="5207437" y="28519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데이터 분석 (EDA)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07437" y="3281124"/>
            <a:ext cx="42154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데이터셋 구조 및 특성 파악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21203" y="239268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2707005"/>
            <a:ext cx="4215289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9621203" y="28519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시행착오의 여정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1203" y="3281124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실패와 학습의 과정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394585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4260175"/>
            <a:ext cx="4215289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44050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핵심 전환점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790" y="4834295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2-Stage Pipeline 도입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207437" y="394585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207437" y="4260175"/>
            <a:ext cx="4215408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1" name="Text 19"/>
          <p:cNvSpPr/>
          <p:nvPr/>
        </p:nvSpPr>
        <p:spPr>
          <a:xfrm>
            <a:off x="5207437" y="44050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최종 모델 아키텍처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5207437" y="4834295"/>
            <a:ext cx="42154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Detector + Classifier 구조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621203" y="394585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06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9621203" y="4260175"/>
            <a:ext cx="4215289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5" name="Text 23"/>
          <p:cNvSpPr/>
          <p:nvPr/>
        </p:nvSpPr>
        <p:spPr>
          <a:xfrm>
            <a:off x="9621203" y="44050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실험 결과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621203" y="4834295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점수 향상 히스토리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93790" y="549902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07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793790" y="5813346"/>
            <a:ext cx="4215289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9" name="Text 27"/>
          <p:cNvSpPr/>
          <p:nvPr/>
        </p:nvSpPr>
        <p:spPr>
          <a:xfrm>
            <a:off x="793790" y="59582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베스트 모델 분석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793790" y="6387465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0.96703 달성 비결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5207437" y="549902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08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5207437" y="5813346"/>
            <a:ext cx="4215408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33" name="Text 31"/>
          <p:cNvSpPr/>
          <p:nvPr/>
        </p:nvSpPr>
        <p:spPr>
          <a:xfrm>
            <a:off x="5207437" y="59582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팀 협업 &amp; 비즈니스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5207437" y="6387465"/>
            <a:ext cx="42154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협업 도구 및 사업 방향성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9621203" y="549902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09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9621203" y="5813346"/>
            <a:ext cx="4215289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37" name="Text 35"/>
          <p:cNvSpPr/>
          <p:nvPr/>
        </p:nvSpPr>
        <p:spPr>
          <a:xfrm>
            <a:off x="9621203" y="59582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결론 및 회고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9621203" y="6387465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핵심 교훈 및 향후 과제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3067"/>
            <a:ext cx="3225165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프로젝트 개요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93790" y="1448633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핵심 성과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93790" y="1835468"/>
            <a:ext cx="7699772" cy="1521143"/>
          </a:xfrm>
          <a:prstGeom prst="roundRect">
            <a:avLst>
              <a:gd name="adj" fmla="val 356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1843087"/>
            <a:ext cx="7684532" cy="3764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30354" y="1928098"/>
            <a:ext cx="3580567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목표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76430" y="1928098"/>
            <a:ext cx="3580567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Kaggle mAP@[0.75:0.95] 최대화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1410" y="2219563"/>
            <a:ext cx="7684532" cy="3764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30354" y="2304574"/>
            <a:ext cx="3580567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프로젝트 기간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76430" y="2304574"/>
            <a:ext cx="3580567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3주 (12/04 ~ 12/23)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1410" y="2596039"/>
            <a:ext cx="7684532" cy="3764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30354" y="2681049"/>
            <a:ext cx="3580567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최종 점수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76430" y="2681049"/>
            <a:ext cx="3580567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0.96703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1410" y="2972514"/>
            <a:ext cx="7684532" cy="3764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30354" y="3057525"/>
            <a:ext cx="3580567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개선율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76430" y="3057525"/>
            <a:ext cx="3580567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Baseline 대비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+18%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3790" y="3501628"/>
            <a:ext cx="7699772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AI 기반 알약 인식 시스템을 개발하여 사용자가 촬영한 알약 이미지에서 자동으로 약물 정보를 식별하는 것이 본 프로젝트의 목표입니다. Kaggle 평가 지표인 mAP@[0.75:0.95]를 최대화하기 위해 3주간 집중적으로 연구 개발을 진행했습니다.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15745" y="1448633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점수 향상 추이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15745" y="1899880"/>
            <a:ext cx="5028367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0.70</a:t>
            </a:r>
            <a:endParaRPr lang="en-US" sz="3350" dirty="0"/>
          </a:p>
        </p:txBody>
      </p:sp>
      <p:sp>
        <p:nvSpPr>
          <p:cNvPr id="20" name="Text 18"/>
          <p:cNvSpPr/>
          <p:nvPr/>
        </p:nvSpPr>
        <p:spPr>
          <a:xfrm>
            <a:off x="10523577" y="2486620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초기 시도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15745" y="2817019"/>
            <a:ext cx="5028367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Baseline 모델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15745" y="3345894"/>
            <a:ext cx="5028367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0.82</a:t>
            </a:r>
            <a:endParaRPr lang="en-US" sz="3350" dirty="0"/>
          </a:p>
        </p:txBody>
      </p:sp>
      <p:sp>
        <p:nvSpPr>
          <p:cNvPr id="23" name="Text 21"/>
          <p:cNvSpPr/>
          <p:nvPr/>
        </p:nvSpPr>
        <p:spPr>
          <a:xfrm>
            <a:off x="10523577" y="3932634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1차 개선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815745" y="4263033"/>
            <a:ext cx="5028367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자동화 구축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15745" y="4791908"/>
            <a:ext cx="5028367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0.92</a:t>
            </a:r>
            <a:endParaRPr lang="en-US" sz="3350" dirty="0"/>
          </a:p>
        </p:txBody>
      </p:sp>
      <p:sp>
        <p:nvSpPr>
          <p:cNvPr id="26" name="Text 24"/>
          <p:cNvSpPr/>
          <p:nvPr/>
        </p:nvSpPr>
        <p:spPr>
          <a:xfrm>
            <a:off x="10523577" y="5378648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2차 도약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815745" y="5709047"/>
            <a:ext cx="5028367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2-Stage 전환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15745" y="6237923"/>
            <a:ext cx="5028367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0.967</a:t>
            </a:r>
            <a:endParaRPr lang="en-US" sz="3350" dirty="0"/>
          </a:p>
        </p:txBody>
      </p:sp>
      <p:sp>
        <p:nvSpPr>
          <p:cNvPr id="29" name="Text 27"/>
          <p:cNvSpPr/>
          <p:nvPr/>
        </p:nvSpPr>
        <p:spPr>
          <a:xfrm>
            <a:off x="10523577" y="6824663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최종 달성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815745" y="7155061"/>
            <a:ext cx="5028367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데이터 정제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4759"/>
            <a:ext cx="3225165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데이터 분석 - EDA 개요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93790" y="2339459"/>
            <a:ext cx="2534960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데이터 구조 및 클래스 매핑 전략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93790" y="2903696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데이터셋 구성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93790" y="3234095"/>
            <a:ext cx="63641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담당: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김민우, 김나연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3790" y="3585567"/>
            <a:ext cx="6364129" cy="1897618"/>
          </a:xfrm>
          <a:prstGeom prst="roundRect">
            <a:avLst>
              <a:gd name="adj" fmla="val 285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410" y="3593187"/>
            <a:ext cx="6348174" cy="3764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31307" y="3678198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구분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50858" y="3678198"/>
            <a:ext cx="185023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원본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66598" y="3678198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필터링 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1410" y="3969663"/>
            <a:ext cx="6348174" cy="3764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31307" y="4054673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Train 이미지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50858" y="4054673"/>
            <a:ext cx="185023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651개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66598" y="4054673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232개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1410" y="4346138"/>
            <a:ext cx="6348174" cy="3764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31307" y="4431149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Test 이미지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50858" y="4431149"/>
            <a:ext cx="185023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843개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6598" y="4431149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-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1410" y="4722614"/>
            <a:ext cx="6348174" cy="3764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31307" y="4807625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어노테이션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50858" y="4807625"/>
            <a:ext cx="185023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1,001개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66598" y="4807625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763개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1410" y="5099090"/>
            <a:ext cx="6348174" cy="3764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31307" y="5184100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클래스 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50858" y="5184100"/>
            <a:ext cx="185023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56개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66598" y="5184100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-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3790" y="5628203"/>
            <a:ext cx="6364129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원본 데이터에서 폴더와 JSON 파일 간 정합성 문제를 발견했습니다. 폴더에는 있지만 JSON에 없는 이미지가 419개, 반대의 경우가 137개 존재했습니다. 이를 해결하기 위해 교집합 데이터만 사용하는 정제 과정을 거쳤습니다.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80102" y="2903696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클래스 매핑 체계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80102" y="3250168"/>
            <a:ext cx="6364129" cy="1521143"/>
          </a:xfrm>
          <a:prstGeom prst="roundRect">
            <a:avLst>
              <a:gd name="adj" fmla="val 356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87722" y="3257788"/>
            <a:ext cx="6348174" cy="3764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617619" y="3342799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구분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737169" y="3342799"/>
            <a:ext cx="185023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클래스 수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852910" y="3342799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설명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87722" y="3634264"/>
            <a:ext cx="6348174" cy="3764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617619" y="3719274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KAGGLE_56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737169" y="3719274"/>
            <a:ext cx="185023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56개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852910" y="3719274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Train 데이터 기준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87722" y="4010739"/>
            <a:ext cx="6348174" cy="3764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617619" y="4095750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MISSING_18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737169" y="4095750"/>
            <a:ext cx="185023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18개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852910" y="4095750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Test 전용 클래스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87722" y="4387215"/>
            <a:ext cx="6348174" cy="3764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617619" y="4472226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ALL_74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737169" y="4472226"/>
            <a:ext cx="185023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74개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852910" y="4472226"/>
            <a:ext cx="185404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전체 타겟 클래스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480102" y="4916329"/>
            <a:ext cx="6364129" cy="754499"/>
          </a:xfrm>
          <a:prstGeom prst="roundRect">
            <a:avLst>
              <a:gd name="adj" fmla="val 7181"/>
            </a:avLst>
          </a:prstGeom>
          <a:solidFill>
            <a:srgbClr val="CFE2DE"/>
          </a:solidFill>
          <a:ln/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9046" y="5094089"/>
            <a:ext cx="161211" cy="128945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7899202" y="5077420"/>
            <a:ext cx="5816084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핵심 포인트: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Classifier는 JSON category_id가 아닌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폴더 구조(K-code)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로 클래스를 매핑합니다. 이는 extract_and_crop.py에서 구현되었습니다.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7480102" y="5815846"/>
            <a:ext cx="6364129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K-code와 dl_idx 간 변환 로직을 통해 약물 코드(K-000001 ~ K-999999)를 내부 인덱스(0-based)로 체계적으로 관리했습니다.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55188"/>
            <a:ext cx="4217551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데이터 분석 - EDA 상세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149667"/>
            <a:ext cx="3548062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이미지 특성 및 클래스 불균형 분석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1887498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이미지 메타데이터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3790" y="2340769"/>
            <a:ext cx="6315670" cy="2940606"/>
          </a:xfrm>
          <a:prstGeom prst="roundRect">
            <a:avLst>
              <a:gd name="adj" fmla="val 241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2348389"/>
            <a:ext cx="6300430" cy="4875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70121" y="2457212"/>
            <a:ext cx="280916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항목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24087" y="2457212"/>
            <a:ext cx="280916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분석 결과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1410" y="2835950"/>
            <a:ext cx="6300430" cy="4875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70121" y="2944773"/>
            <a:ext cx="280916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해상도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24087" y="2944773"/>
            <a:ext cx="280916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976x1280 (단일 해상도)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410" y="3323511"/>
            <a:ext cx="6300430" cy="4875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70121" y="3432334"/>
            <a:ext cx="280916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촬영 배경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24087" y="3432334"/>
            <a:ext cx="280916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연회색 배경 (100%)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1410" y="3811072"/>
            <a:ext cx="6300430" cy="4875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70121" y="3919895"/>
            <a:ext cx="280916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조명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24087" y="3919895"/>
            <a:ext cx="280916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주백색 (100%)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1410" y="4298633"/>
            <a:ext cx="6300430" cy="4875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70121" y="4407456"/>
            <a:ext cx="280916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bbox 평균 area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24087" y="4407456"/>
            <a:ext cx="280916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68,646 px²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1410" y="4786193"/>
            <a:ext cx="6300430" cy="4875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70121" y="4895017"/>
            <a:ext cx="280916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이미지당 평균 알약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24087" y="4895017"/>
            <a:ext cx="280916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2.7개 (최대 4개)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3790" y="5471160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알약 물리적 특성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93790" y="5903238"/>
            <a:ext cx="631567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모양: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원형(48%), 타원형(32%), 장방형(18%)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3790" y="6232088"/>
            <a:ext cx="631567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색상: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주황(28%), 하양(26%), 분홍(15%), 노랑(13%)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3790" y="6560939"/>
            <a:ext cx="631567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방향: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앞면(99%), 뒷면(1%)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3790" y="6982658"/>
            <a:ext cx="6315670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모든 이미지가 동일한 촬영 환경(연회색 배경, 주백색 조명)에서 촬영되어 일관된 데이터 품질을 보였습니다.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28560" y="1887498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심각한 클래스 불균형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7528560" y="2425065"/>
            <a:ext cx="3052405" cy="55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240</a:t>
            </a:r>
            <a:endParaRPr lang="en-US" sz="4350" dirty="0"/>
          </a:p>
        </p:txBody>
      </p:sp>
      <p:sp>
        <p:nvSpPr>
          <p:cNvPr id="31" name="Text 29"/>
          <p:cNvSpPr/>
          <p:nvPr/>
        </p:nvSpPr>
        <p:spPr>
          <a:xfrm>
            <a:off x="8000405" y="3192423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최다 클래스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528560" y="3624501"/>
            <a:ext cx="305240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일양하이트린정 2mg (24%)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791825" y="2425065"/>
            <a:ext cx="3052405" cy="55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4350" dirty="0"/>
          </a:p>
        </p:txBody>
      </p:sp>
      <p:sp>
        <p:nvSpPr>
          <p:cNvPr id="34" name="Text 32"/>
          <p:cNvSpPr/>
          <p:nvPr/>
        </p:nvSpPr>
        <p:spPr>
          <a:xfrm>
            <a:off x="11263670" y="3192423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최소 클래스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0791825" y="3624501"/>
            <a:ext cx="305240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일부 클래스 (0.3%)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60193" y="4316016"/>
            <a:ext cx="3052405" cy="55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80</a:t>
            </a:r>
            <a:endParaRPr lang="en-US" sz="4350" dirty="0"/>
          </a:p>
        </p:txBody>
      </p:sp>
      <p:sp>
        <p:nvSpPr>
          <p:cNvPr id="37" name="Text 35"/>
          <p:cNvSpPr/>
          <p:nvPr/>
        </p:nvSpPr>
        <p:spPr>
          <a:xfrm>
            <a:off x="9632037" y="5083373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불균형 비율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160193" y="5515451"/>
            <a:ext cx="305240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상위 vs 하위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528560" y="5975152"/>
            <a:ext cx="6315670" cy="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클래스 불균형이 매우 심각한 수준으로 나타났습니다. 가장 많은 데이터를 가진 클래스는 240개의 샘플을 보유한 반면, 일부 클래스는 단 3개의 샘플만 존재했습니다. 이는 1:80의 극심한 불균형 비율을 보이며, 모델 학습에 있어 중요한 도전 과제로 작용했습니다.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528560" y="6936700"/>
            <a:ext cx="6315670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이러한 불균형은 소수 클래스에 대한 낮은 예측 정확도로 이어질 수 있어, 데이터 증강 및 2-Stage Pipeline 전략 수립의 주요 동기가 되었습니다.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8418"/>
            <a:ext cx="567166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인프라: Ubuntu 자동화 파이프라인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238012"/>
            <a:ext cx="3286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처음부터 구축한 체계적 실험 환경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93790" y="1773793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담당: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김보윤 (Model Architect)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93790" y="236517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자동화 파이프라인 구조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91778"/>
            <a:ext cx="793790" cy="9782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46290" y="295048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패키지 설치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46290" y="3357205"/>
            <a:ext cx="604670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gdown, albumentations, ultralytics, kaggle 자동 설치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769995"/>
            <a:ext cx="793790" cy="9782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46290" y="392870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데이터 로딩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746290" y="4335423"/>
            <a:ext cx="604670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python -m src.data.data_load.data_loader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748213"/>
            <a:ext cx="793790" cy="9782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46290" y="490692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YOLO 포맷 변환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746290" y="5313640"/>
            <a:ext cx="604670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python -m src.data.yolo_dataset.yolo_export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726430"/>
            <a:ext cx="793790" cy="9782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46290" y="588514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모델 학습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1746290" y="6291858"/>
            <a:ext cx="604670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python -m src.models.[모델명]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793790" y="6883241"/>
            <a:ext cx="6999208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Baseline 단계부터 자동화 파이프라인을 구축하여, 반복적인 실험을 효율적으로 수행할 수 있는 환경을 마련했습니다. exc.sh 스크립트를 통해 전체 프로세스를 단일 명령어로 실행할 수 있습니다.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8187809" y="236517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핵심 안정화 기능</a:t>
            </a:r>
            <a:endParaRPr lang="en-US" sz="1550" dirty="0"/>
          </a:p>
        </p:txBody>
      </p:sp>
      <p:sp>
        <p:nvSpPr>
          <p:cNvPr id="20" name="Shape 14"/>
          <p:cNvSpPr/>
          <p:nvPr/>
        </p:nvSpPr>
        <p:spPr>
          <a:xfrm>
            <a:off x="8187809" y="2791778"/>
            <a:ext cx="5656302" cy="2568416"/>
          </a:xfrm>
          <a:prstGeom prst="roundRect">
            <a:avLst>
              <a:gd name="adj" fmla="val 259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195429" y="2799398"/>
            <a:ext cx="5641062" cy="459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354258" y="2902268"/>
            <a:ext cx="249924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기능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178540" y="2902268"/>
            <a:ext cx="249924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구현 내용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8195429" y="3259217"/>
            <a:ext cx="5641062" cy="71389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8354258" y="3362087"/>
            <a:ext cx="249924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Seed 고정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1178540" y="3362087"/>
            <a:ext cx="249924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Python, NumPy, PyTorch, CUDA 전체 시드 42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8195429" y="3973116"/>
            <a:ext cx="5641062" cy="459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8354258" y="4075986"/>
            <a:ext cx="249924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체크포인트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11178540" y="4075986"/>
            <a:ext cx="249924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5 에포크마다 자동 저장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8195429" y="4432935"/>
            <a:ext cx="5641062" cy="4598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8354258" y="4535805"/>
            <a:ext cx="249924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Early Stopping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11178540" y="4535805"/>
            <a:ext cx="249924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patience=10~15 에포크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8195429" y="4892754"/>
            <a:ext cx="5641062" cy="459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28"/>
          <p:cNvSpPr/>
          <p:nvPr/>
        </p:nvSpPr>
        <p:spPr>
          <a:xfrm>
            <a:off x="8354258" y="4995624"/>
            <a:ext cx="249924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W&amp;B 연동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11178540" y="4995624"/>
            <a:ext cx="249924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mAP@0.75:0.95 실시간 모니터링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8187809" y="5538788"/>
            <a:ext cx="5656302" cy="928687"/>
          </a:xfrm>
          <a:prstGeom prst="roundRect">
            <a:avLst>
              <a:gd name="adj" fmla="val 7181"/>
            </a:avLst>
          </a:prstGeom>
          <a:solidFill>
            <a:srgbClr val="CFE2DE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6519" y="5758220"/>
            <a:ext cx="198358" cy="15871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703588" y="5737146"/>
            <a:ext cx="4981813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재현성 확보: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모든 난수 생성 요소에 대해 동일한 시드를 설정하여, 실험 결과의 재현성을 보장했습니다.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8187809" y="6646069"/>
            <a:ext cx="5656302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체계적인 체크포인트 관리와 Early Stopping 메커니즘을 통해 학습 과정을 안정적으로 제어하고, 과적합을 방지했습니다. W&amp;B 연동을 통해 실시간으로 학습 진행 상황을 모니터링하고 팀원들과 공유할 수 있었습니다.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066" y="495062"/>
            <a:ext cx="3071336" cy="36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데이터 확장 시도 - AIHub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718066" y="906304"/>
            <a:ext cx="2777609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외부 데이터셋 활용을 통한 클래스 확장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07580" y="1300043"/>
            <a:ext cx="15240" cy="2880360"/>
          </a:xfrm>
          <a:prstGeom prst="roundRect">
            <a:avLst>
              <a:gd name="adj" fmla="val 321589"/>
            </a:avLst>
          </a:prstGeom>
          <a:solidFill>
            <a:srgbClr val="C5D2CF"/>
          </a:solidFill>
          <a:ln/>
        </p:spPr>
      </p:sp>
      <p:sp>
        <p:nvSpPr>
          <p:cNvPr id="5" name="Shape 3"/>
          <p:cNvSpPr/>
          <p:nvPr/>
        </p:nvSpPr>
        <p:spPr>
          <a:xfrm>
            <a:off x="6849130" y="1423630"/>
            <a:ext cx="350044" cy="15240"/>
          </a:xfrm>
          <a:prstGeom prst="roundRect">
            <a:avLst>
              <a:gd name="adj" fmla="val 321589"/>
            </a:avLst>
          </a:prstGeom>
          <a:solidFill>
            <a:srgbClr val="C5D2CF"/>
          </a:solidFill>
          <a:ln/>
        </p:spPr>
      </p:sp>
      <p:sp>
        <p:nvSpPr>
          <p:cNvPr id="6" name="Shape 4"/>
          <p:cNvSpPr/>
          <p:nvPr/>
        </p:nvSpPr>
        <p:spPr>
          <a:xfrm>
            <a:off x="7183934" y="1300043"/>
            <a:ext cx="262533" cy="262533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7630" y="1321891"/>
            <a:ext cx="175022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273159" y="1340048"/>
            <a:ext cx="1458635" cy="18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1차: 복합경구제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8066" y="1592342"/>
            <a:ext cx="6013728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56개 클래스 필터링 시도 → </a:t>
            </a:r>
            <a:pPr algn="r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실패</a:t>
            </a:r>
            <a:pPr algn="r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(mAP 0.014 이하)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31226" y="2123718"/>
            <a:ext cx="350044" cy="15240"/>
          </a:xfrm>
          <a:prstGeom prst="roundRect">
            <a:avLst>
              <a:gd name="adj" fmla="val 321589"/>
            </a:avLst>
          </a:prstGeom>
          <a:solidFill>
            <a:srgbClr val="C5D2CF"/>
          </a:solidFill>
          <a:ln/>
        </p:spPr>
      </p:sp>
      <p:sp>
        <p:nvSpPr>
          <p:cNvPr id="11" name="Shape 9"/>
          <p:cNvSpPr/>
          <p:nvPr/>
        </p:nvSpPr>
        <p:spPr>
          <a:xfrm>
            <a:off x="7183934" y="2000131"/>
            <a:ext cx="262533" cy="262533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7630" y="2021979"/>
            <a:ext cx="175022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98606" y="2040136"/>
            <a:ext cx="1458635" cy="18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2차: 단일경구제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98606" y="2292429"/>
            <a:ext cx="6013728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1.5TB 다운로드 (23시간) →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미미한 개선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(0.822)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49130" y="2727127"/>
            <a:ext cx="350044" cy="15240"/>
          </a:xfrm>
          <a:prstGeom prst="roundRect">
            <a:avLst>
              <a:gd name="adj" fmla="val 321589"/>
            </a:avLst>
          </a:prstGeom>
          <a:solidFill>
            <a:srgbClr val="C5D2CF"/>
          </a:solidFill>
          <a:ln/>
        </p:spPr>
      </p:sp>
      <p:sp>
        <p:nvSpPr>
          <p:cNvPr id="16" name="Shape 14"/>
          <p:cNvSpPr/>
          <p:nvPr/>
        </p:nvSpPr>
        <p:spPr>
          <a:xfrm>
            <a:off x="7183934" y="2603540"/>
            <a:ext cx="262533" cy="262533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7630" y="2625388"/>
            <a:ext cx="175022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73159" y="2643545"/>
            <a:ext cx="1458635" cy="18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3차: TL/TS 1,3,4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8066" y="2895838"/>
            <a:ext cx="6013728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18개 추가 클래스 확보 → </a:t>
            </a:r>
            <a:pPr algn="r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74개 클래스로 확장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31226" y="3330535"/>
            <a:ext cx="350044" cy="15240"/>
          </a:xfrm>
          <a:prstGeom prst="roundRect">
            <a:avLst>
              <a:gd name="adj" fmla="val 321589"/>
            </a:avLst>
          </a:prstGeom>
          <a:solidFill>
            <a:srgbClr val="C5D2CF"/>
          </a:solidFill>
          <a:ln/>
        </p:spPr>
      </p:sp>
      <p:sp>
        <p:nvSpPr>
          <p:cNvPr id="21" name="Shape 19"/>
          <p:cNvSpPr/>
          <p:nvPr/>
        </p:nvSpPr>
        <p:spPr>
          <a:xfrm>
            <a:off x="7183934" y="3206948"/>
            <a:ext cx="262533" cy="262533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7630" y="3228796"/>
            <a:ext cx="175022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898606" y="3246953"/>
            <a:ext cx="1458635" cy="18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4차: TL/TS 1~8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98606" y="3499247"/>
            <a:ext cx="6013728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전체 74개 클래스 데이터 확보 →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최종 데이터셋 구축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8066" y="4428292"/>
            <a:ext cx="1458635" cy="18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강사님 디렉션 (12/17)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3088" y="4741783"/>
            <a:ext cx="6279833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테스트 이미지에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18개 추가 클래스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가 존재합니다. 복합경구제 TL/TS 데이터셋에서 해당 클래스를 확보하세요.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8066" y="4741783"/>
            <a:ext cx="15240" cy="18669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8" name="Text 26"/>
          <p:cNvSpPr/>
          <p:nvPr/>
        </p:nvSpPr>
        <p:spPr>
          <a:xfrm>
            <a:off x="718066" y="5059680"/>
            <a:ext cx="6454854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이 조언이 프로젝트의 중요한 전환점이 되었습니다. Train 데이터에는 없지만 Test에 존재하는 18개 클래스를 발견하고, 이를 AIHub 복합경구제 데이터셋에서 찾아 학습 데이터에 추가했습니다.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65100" y="4428292"/>
            <a:ext cx="1458635" cy="18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최종 확장 결과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65100" y="4800124"/>
            <a:ext cx="3154442" cy="385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56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312944" y="5331023"/>
            <a:ext cx="1458635" cy="18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원본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65100" y="5629989"/>
            <a:ext cx="3154442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Kaggle Train 클래스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65393" y="4800124"/>
            <a:ext cx="3154561" cy="385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+18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11613356" y="5331023"/>
            <a:ext cx="1458635" cy="18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추가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765393" y="5629989"/>
            <a:ext cx="3154561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Test 전용 클래스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15187" y="6108383"/>
            <a:ext cx="3154561" cy="385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74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9963150" y="6639282"/>
            <a:ext cx="1458635" cy="18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최종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15187" y="6938248"/>
            <a:ext cx="3154561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전체 타겟 클래스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65100" y="7256145"/>
            <a:ext cx="6454854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56개 + 18개 =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74개 클래스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로 확장하여 테스트 데이터의 모든 클래스를 커버할 수 있게 되었습니다. 이는 최종 점수 향상에 결정적인 역할을 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86383"/>
            <a:ext cx="4420195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시행착오의 여정 - Phase 1~3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111091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실패를 통한 학습과 성장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1613297"/>
            <a:ext cx="4248388" cy="2123003"/>
          </a:xfrm>
          <a:prstGeom prst="roundRect">
            <a:avLst>
              <a:gd name="adj" fmla="val 294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238" y="1769745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43706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2991" y="1892498"/>
            <a:ext cx="200858" cy="20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238" y="2365058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1: Baseline 구축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50238" y="2686883"/>
            <a:ext cx="393549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보윤님 Ubuntu 자동화 파이프라인 구축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50238" y="3014305"/>
            <a:ext cx="393549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YOLO12m End-to-end 학습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50238" y="3341727"/>
            <a:ext cx="393549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결과: 0.82점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91006" y="1613297"/>
            <a:ext cx="4248388" cy="2123003"/>
          </a:xfrm>
          <a:prstGeom prst="roundRect">
            <a:avLst>
              <a:gd name="adj" fmla="val 294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47454" y="1769745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43706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0207" y="1892498"/>
            <a:ext cx="200858" cy="2008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7454" y="2365058"/>
            <a:ext cx="2061091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2: 복합경구제 (실패)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347454" y="2686883"/>
            <a:ext cx="393549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문제: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이미지당 라벨 1개 → bbox 1개만 검출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347454" y="3014305"/>
            <a:ext cx="393549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문제: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클래스 수 급증으로 학습 불안정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347454" y="3341727"/>
            <a:ext cx="393549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결과: mAP 0.014 이하로 급락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9588222" y="1613297"/>
            <a:ext cx="4248388" cy="2123003"/>
          </a:xfrm>
          <a:prstGeom prst="roundRect">
            <a:avLst>
              <a:gd name="adj" fmla="val 294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744670" y="1769745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43706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67424" y="1892498"/>
            <a:ext cx="200858" cy="20085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744670" y="2365058"/>
            <a:ext cx="206252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3: 단일경구제 (미미)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9744670" y="2686883"/>
            <a:ext cx="393549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문제: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데이터 특성 불일치 (어두운 배경, 붉은 조명)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9744670" y="3014305"/>
            <a:ext cx="393549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소요: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1.5TB 다운로드 23시간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9744670" y="3341727"/>
            <a:ext cx="393549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결과: 0.822 (유의미하지 않음)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793790" y="4052530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2 상세 분석</a:t>
            </a:r>
            <a:endParaRPr lang="en-US" sz="1450" dirty="0"/>
          </a:p>
        </p:txBody>
      </p:sp>
      <p:sp>
        <p:nvSpPr>
          <p:cNvPr id="26" name="Shape 21"/>
          <p:cNvSpPr/>
          <p:nvPr/>
        </p:nvSpPr>
        <p:spPr>
          <a:xfrm>
            <a:off x="793790" y="4452461"/>
            <a:ext cx="6339840" cy="2219325"/>
          </a:xfrm>
          <a:prstGeom prst="roundRect">
            <a:avLst>
              <a:gd name="adj" fmla="val 281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01410" y="4460081"/>
            <a:ext cx="6324600" cy="4319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950238" y="4556998"/>
            <a:ext cx="28608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문제점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4116348" y="4556998"/>
            <a:ext cx="28608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상세 내용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01410" y="4892040"/>
            <a:ext cx="6324600" cy="6700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950238" y="4988957"/>
            <a:ext cx="28608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이미지당 라벨 1개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4116348" y="4988957"/>
            <a:ext cx="286083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학습 시 이미지당 bbox 1개만 학습 → 예측도 bbox 1개만 검출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01410" y="5562124"/>
            <a:ext cx="6324600" cy="6700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950238" y="5659041"/>
            <a:ext cx="28608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클래스 폭증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4116348" y="5659041"/>
            <a:ext cx="286083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이미지에 해당하는 모든 라벨 가져오니 클래스 수 급증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801410" y="6232208"/>
            <a:ext cx="6324600" cy="4319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2"/>
          <p:cNvSpPr/>
          <p:nvPr/>
        </p:nvSpPr>
        <p:spPr>
          <a:xfrm>
            <a:off x="950238" y="6329124"/>
            <a:ext cx="28608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결과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4116348" y="6329124"/>
            <a:ext cx="28608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mAP </a:t>
            </a:r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0.014 이하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로 급락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793790" y="6839188"/>
            <a:ext cx="63398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복합경구제 데이터의 구조적 문제를 간과한 채 학습을 진행했고, 이는 치명적인 성능 저하로 이어졌습니다. 데이터 구조에 대한 깊이 있는 이해 없이는 좋은 결과를 얻을 수 없다는 중요한 교훈을 얻었습니다.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7504390" y="4052530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3 상세 분석</a:t>
            </a:r>
            <a:endParaRPr lang="en-US" sz="1450" dirty="0"/>
          </a:p>
        </p:txBody>
      </p:sp>
      <p:sp>
        <p:nvSpPr>
          <p:cNvPr id="41" name="Shape 36"/>
          <p:cNvSpPr/>
          <p:nvPr/>
        </p:nvSpPr>
        <p:spPr>
          <a:xfrm>
            <a:off x="7504390" y="4452461"/>
            <a:ext cx="6339840" cy="2413159"/>
          </a:xfrm>
          <a:prstGeom prst="roundRect">
            <a:avLst>
              <a:gd name="adj" fmla="val 259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512010" y="4460081"/>
            <a:ext cx="6324600" cy="4319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3" name="Text 38"/>
          <p:cNvSpPr/>
          <p:nvPr/>
        </p:nvSpPr>
        <p:spPr>
          <a:xfrm>
            <a:off x="7660838" y="4556998"/>
            <a:ext cx="28608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문제점</a:t>
            </a:r>
            <a:endParaRPr lang="en-US" sz="1150" dirty="0"/>
          </a:p>
        </p:txBody>
      </p:sp>
      <p:sp>
        <p:nvSpPr>
          <p:cNvPr id="44" name="Text 39"/>
          <p:cNvSpPr/>
          <p:nvPr/>
        </p:nvSpPr>
        <p:spPr>
          <a:xfrm>
            <a:off x="10826948" y="4556998"/>
            <a:ext cx="28608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상세 내용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7512010" y="4892040"/>
            <a:ext cx="6324600" cy="4319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6" name="Text 41"/>
          <p:cNvSpPr/>
          <p:nvPr/>
        </p:nvSpPr>
        <p:spPr>
          <a:xfrm>
            <a:off x="7660838" y="4988957"/>
            <a:ext cx="28608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데이터 특성 불일치</a:t>
            </a:r>
            <a:endParaRPr lang="en-US" sz="1150" dirty="0"/>
          </a:p>
        </p:txBody>
      </p:sp>
      <p:sp>
        <p:nvSpPr>
          <p:cNvPr id="47" name="Text 42"/>
          <p:cNvSpPr/>
          <p:nvPr/>
        </p:nvSpPr>
        <p:spPr>
          <a:xfrm>
            <a:off x="10826948" y="4988957"/>
            <a:ext cx="28608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이미지당 알약 1개, 어두운 배경, 붉은색 조명</a:t>
            </a:r>
            <a:endParaRPr lang="en-US" sz="1150" dirty="0"/>
          </a:p>
        </p:txBody>
      </p:sp>
      <p:sp>
        <p:nvSpPr>
          <p:cNvPr id="48" name="Shape 43"/>
          <p:cNvSpPr/>
          <p:nvPr/>
        </p:nvSpPr>
        <p:spPr>
          <a:xfrm>
            <a:off x="7512010" y="5323999"/>
            <a:ext cx="6324600" cy="6700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9" name="Text 44"/>
          <p:cNvSpPr/>
          <p:nvPr/>
        </p:nvSpPr>
        <p:spPr>
          <a:xfrm>
            <a:off x="7660838" y="5420916"/>
            <a:ext cx="28608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데이터셋 거대</a:t>
            </a:r>
            <a:endParaRPr lang="en-US" sz="1150" dirty="0"/>
          </a:p>
        </p:txBody>
      </p:sp>
      <p:sp>
        <p:nvSpPr>
          <p:cNvPr id="50" name="Text 45"/>
          <p:cNvSpPr/>
          <p:nvPr/>
        </p:nvSpPr>
        <p:spPr>
          <a:xfrm>
            <a:off x="10826948" y="5420916"/>
            <a:ext cx="286083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TB 단위 → 라벨만 다운로드 후 56개 클래스 필터링</a:t>
            </a:r>
            <a:endParaRPr lang="en-US" sz="1150" dirty="0"/>
          </a:p>
        </p:txBody>
      </p:sp>
      <p:sp>
        <p:nvSpPr>
          <p:cNvPr id="51" name="Shape 46"/>
          <p:cNvSpPr/>
          <p:nvPr/>
        </p:nvSpPr>
        <p:spPr>
          <a:xfrm>
            <a:off x="7512010" y="5994083"/>
            <a:ext cx="6324600" cy="4319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2" name="Text 47"/>
          <p:cNvSpPr/>
          <p:nvPr/>
        </p:nvSpPr>
        <p:spPr>
          <a:xfrm>
            <a:off x="7660838" y="6090999"/>
            <a:ext cx="28608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소요 시간</a:t>
            </a:r>
            <a:endParaRPr lang="en-US" sz="1150" dirty="0"/>
          </a:p>
        </p:txBody>
      </p:sp>
      <p:sp>
        <p:nvSpPr>
          <p:cNvPr id="53" name="Text 48"/>
          <p:cNvSpPr/>
          <p:nvPr/>
        </p:nvSpPr>
        <p:spPr>
          <a:xfrm>
            <a:off x="10826948" y="6090999"/>
            <a:ext cx="28608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1.5TB 다운로드 </a:t>
            </a:r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23시간</a:t>
            </a:r>
            <a:endParaRPr lang="en-US" sz="1150" dirty="0"/>
          </a:p>
        </p:txBody>
      </p:sp>
      <p:sp>
        <p:nvSpPr>
          <p:cNvPr id="54" name="Shape 49"/>
          <p:cNvSpPr/>
          <p:nvPr/>
        </p:nvSpPr>
        <p:spPr>
          <a:xfrm>
            <a:off x="7512010" y="6426041"/>
            <a:ext cx="6324600" cy="4319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Text 50"/>
          <p:cNvSpPr/>
          <p:nvPr/>
        </p:nvSpPr>
        <p:spPr>
          <a:xfrm>
            <a:off x="7660838" y="6522958"/>
            <a:ext cx="28608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결과</a:t>
            </a:r>
            <a:endParaRPr lang="en-US" sz="1150" dirty="0"/>
          </a:p>
        </p:txBody>
      </p:sp>
      <p:sp>
        <p:nvSpPr>
          <p:cNvPr id="56" name="Text 51"/>
          <p:cNvSpPr/>
          <p:nvPr/>
        </p:nvSpPr>
        <p:spPr>
          <a:xfrm>
            <a:off x="10826948" y="6522958"/>
            <a:ext cx="28608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Kaggle + 단일경구제 합쳐도 </a:t>
            </a:r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0.822</a:t>
            </a:r>
            <a:endParaRPr lang="en-US" sz="1150" dirty="0"/>
          </a:p>
        </p:txBody>
      </p:sp>
      <p:sp>
        <p:nvSpPr>
          <p:cNvPr id="57" name="Text 52"/>
          <p:cNvSpPr/>
          <p:nvPr/>
        </p:nvSpPr>
        <p:spPr>
          <a:xfrm>
            <a:off x="7504390" y="7033022"/>
            <a:ext cx="63398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단일경구제 데이터는 Kaggle 데이터와 촬영 환경이 완전히 달랐습니다. 도메인 불일치로 인해 막대한 시간을 투자했음에도 유의미한 성능 향상을 얻지 못했습니다.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5325"/>
            <a:ext cx="3924538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시행착오의 여정 - Phase 4~6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93790" y="1150025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전환점과 최종 돌파구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72270"/>
            <a:ext cx="4261604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2734" y="2488168"/>
            <a:ext cx="1997512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4: ROI Crop 시도 (실패)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22734" y="2767013"/>
            <a:ext cx="400371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문제: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Phase 2 bbox 문제 재발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22734" y="3050858"/>
            <a:ext cx="400371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치명적 오류: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bbox를 이미지 전체로 설정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22734" y="3334703"/>
            <a:ext cx="400371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결과: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알약 bbox 검출 불가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338" y="1778794"/>
            <a:ext cx="4261604" cy="1143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13283" y="2294692"/>
            <a:ext cx="2248614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5: 2-Stage Pipeline (성공!)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313283" y="2573536"/>
            <a:ext cx="400371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인식: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End-to-end로는 한계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313283" y="2857381"/>
            <a:ext cx="400371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해결책: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Detector(위치) + Classifier(분류) 분리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313283" y="3141226"/>
            <a:ext cx="400371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결과: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0.822 → 0.963 (+0.141 대폭 상승)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4887" y="1585317"/>
            <a:ext cx="4261723" cy="1143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03832" y="2101215"/>
            <a:ext cx="2283738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6: 데이터 정제 (Best Score)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9703832" y="2380059"/>
            <a:ext cx="4003834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적용: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cleanup_detector_data.py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9703832" y="2663904"/>
            <a:ext cx="4003834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결과: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0.963 → 0.967 (최고 점수!)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93790" y="3944064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4 실패 원인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93790" y="4290536"/>
            <a:ext cx="6364129" cy="548045"/>
          </a:xfrm>
          <a:prstGeom prst="roundRect">
            <a:avLst>
              <a:gd name="adj" fmla="val 9887"/>
            </a:avLst>
          </a:prstGeom>
          <a:solidFill>
            <a:srgbClr val="CFE2D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734" y="4468297"/>
            <a:ext cx="161211" cy="12894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12890" y="4451628"/>
            <a:ext cx="5816084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74개 클래스 확장 후 ROI Crop을 시도했으나, 복합경구제 데이터와 동일한 문제를 다시 답습했습니다.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93790" y="4983599"/>
            <a:ext cx="63641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Kaggle + AIHub 데이터 크롭 시도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93790" y="5235178"/>
            <a:ext cx="63641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육안 검열을 통한 품질 관리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93790" y="5486757"/>
            <a:ext cx="63641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치명적 실수: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bbox를 이미지 전체로 잘못 설정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93790" y="5738336"/>
            <a:ext cx="63641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결과적으로 알약 위치 검출 자체가 불가능해짐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93790" y="6060877"/>
            <a:ext cx="63641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크롭 로직의 검증 없이 학습을 진행한 것이 실패의 원인이었습니다. 코드 검증의 중요성을 깨달았습니다.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480102" y="3944064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핵심 교훈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7480102" y="4290536"/>
            <a:ext cx="290155" cy="290155"/>
          </a:xfrm>
          <a:prstGeom prst="roundRect">
            <a:avLst>
              <a:gd name="adj" fmla="val 1867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528381" y="4314646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899202" y="4334828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데이터 구조 이해 필수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7899202" y="4665226"/>
            <a:ext cx="59450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bbox 개수, 이미지 특성을 정확히 파악해야 함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480102" y="5129689"/>
            <a:ext cx="290155" cy="290155"/>
          </a:xfrm>
          <a:prstGeom prst="roundRect">
            <a:avLst>
              <a:gd name="adj" fmla="val 1867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528381" y="5153799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7899202" y="5173980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도메인 불일치 주의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7899202" y="5504378"/>
            <a:ext cx="59450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단일경구제 vs Kaggle의 배경/조명 차이 인식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7480102" y="5968841"/>
            <a:ext cx="290155" cy="290155"/>
          </a:xfrm>
          <a:prstGeom prst="roundRect">
            <a:avLst>
              <a:gd name="adj" fmla="val 1867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528381" y="5992951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7899202" y="6013133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크롭 로직 검증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7899202" y="6343531"/>
            <a:ext cx="59450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bbox 좌표가 올바른지 반드시 확인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7480102" y="6807994"/>
            <a:ext cx="290155" cy="290155"/>
          </a:xfrm>
          <a:prstGeom prst="roundRect">
            <a:avLst>
              <a:gd name="adj" fmla="val 1867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528381" y="6832104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500" dirty="0"/>
          </a:p>
        </p:txBody>
      </p:sp>
      <p:sp>
        <p:nvSpPr>
          <p:cNvPr id="42" name="Text 36"/>
          <p:cNvSpPr/>
          <p:nvPr/>
        </p:nvSpPr>
        <p:spPr>
          <a:xfrm>
            <a:off x="7899202" y="6852285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실패를 통한 학습</a:t>
            </a:r>
            <a:endParaRPr lang="en-US" sz="1250" dirty="0"/>
          </a:p>
        </p:txBody>
      </p:sp>
      <p:sp>
        <p:nvSpPr>
          <p:cNvPr id="43" name="Text 37"/>
          <p:cNvSpPr/>
          <p:nvPr/>
        </p:nvSpPr>
        <p:spPr>
          <a:xfrm>
            <a:off x="7899202" y="7182683"/>
            <a:ext cx="59450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0.014 실패가 2-Stage 아이디어의 계기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543758"/>
            <a:ext cx="4943832" cy="49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핵심 전환점: 2-Stage Pipeline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0932" y="1101328"/>
            <a:ext cx="3931682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패러다임의 전환 - 문제 분리를 통한 해결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90932" y="1793200"/>
            <a:ext cx="1977390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기존 방식의 한계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0932" y="2218253"/>
            <a:ext cx="6331387" cy="2032754"/>
          </a:xfrm>
          <a:prstGeom prst="roundRect">
            <a:avLst>
              <a:gd name="adj" fmla="val 3269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1907" y="2399228"/>
            <a:ext cx="1977390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End-to-End 접근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71907" y="2804517"/>
            <a:ext cx="5969437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이미지 → YOLO → 74개 클래스 직접 예측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1907" y="3199924"/>
            <a:ext cx="5969437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클래스 불균형 문제 (1:80 비율)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1907" y="3508415"/>
            <a:ext cx="5969437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데이터 부족 (일부 클래스 3개)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1907" y="3816906"/>
            <a:ext cx="5969437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복잡한 학습 목표로 성능 한계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32" y="4428887"/>
            <a:ext cx="2847380" cy="15818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0932" y="6188631"/>
            <a:ext cx="6331387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기존의 End-to-End 방식은 위치 검출과 분류를 동시에 수행하려 했습니다. 74개 클래스에 대한 직접 예측은 심각한 클래스 불균형과 데이터 부족 문제로 인해 성능 향상에 한계가 있었습니다.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15701" y="1793200"/>
            <a:ext cx="1977390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새로운 접근: 문제 분리</a:t>
            </a:r>
            <a:endParaRPr lang="en-US" sz="15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701" y="2218253"/>
            <a:ext cx="790932" cy="97464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464748" y="2376368"/>
            <a:ext cx="1977390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입력 이미지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8464748" y="2781657"/>
            <a:ext cx="5382339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원본 알약 사진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701" y="3192899"/>
            <a:ext cx="790932" cy="97464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64748" y="3351014"/>
            <a:ext cx="1977390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Stage 1: Detector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464748" y="3756303"/>
            <a:ext cx="5382339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알약 위치 검출 (단일 클래스 "Pill")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701" y="4167545"/>
            <a:ext cx="790932" cy="97464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64748" y="4325660"/>
            <a:ext cx="1977390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Stage 2: Classifier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8464748" y="4730948"/>
            <a:ext cx="5382339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크롭된 알약 → 74개 클래스 분류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515701" y="5320070"/>
            <a:ext cx="1977390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분리의 3가지 이점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515701" y="5725358"/>
            <a:ext cx="6331387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Detector: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위치/박싱만 담당 → 일반화 용이, 단일 클래스로 학습 안정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515701" y="6033849"/>
            <a:ext cx="6331387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2"/>
            </a:pPr>
            <a:r>
              <a:rPr lang="en-US" sz="12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Classifier: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분류만 담당 → 독립적 최적화 가능, 크롭된 이미지로 집중 학습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515701" y="6342340"/>
            <a:ext cx="6331387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3"/>
            </a:pPr>
            <a:r>
              <a:rPr lang="en-US" sz="12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모델 독립성: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각 단계에 최적의 모델 선택 가능, 개별 개선 용이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90932" y="7015043"/>
            <a:ext cx="13048536" cy="672108"/>
          </a:xfrm>
          <a:prstGeom prst="roundRect">
            <a:avLst>
              <a:gd name="adj" fmla="val 9886"/>
            </a:avLst>
          </a:prstGeom>
          <a:solidFill>
            <a:srgbClr val="CFE2DE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047" y="7234357"/>
            <a:ext cx="197644" cy="15811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04806" y="7212687"/>
            <a:ext cx="12376547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결과: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이 전략적 전환으로 0.822 → 0.963으로 </a:t>
            </a:r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+0.141 (17%)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대폭 향상을 달성했습니다.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5934"/>
            <a:ext cx="3473291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최종 모델 아키텍처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93790" y="1295519"/>
            <a:ext cx="237601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2-Stage Pipeline 상세 구조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93790" y="1764268"/>
            <a:ext cx="13042821" cy="1628180"/>
          </a:xfrm>
          <a:prstGeom prst="roundRect">
            <a:avLst>
              <a:gd name="adj" fmla="val 358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1771888"/>
            <a:ext cx="6513790" cy="1612940"/>
          </a:xfrm>
          <a:prstGeom prst="roundRect">
            <a:avLst>
              <a:gd name="adj" fmla="val 3618"/>
            </a:avLst>
          </a:prstGeom>
          <a:solidFill>
            <a:srgbClr val="DFECE9"/>
          </a:solidFill>
          <a:ln/>
        </p:spPr>
      </p:sp>
      <p:sp>
        <p:nvSpPr>
          <p:cNvPr id="6" name="Text 4"/>
          <p:cNvSpPr/>
          <p:nvPr/>
        </p:nvSpPr>
        <p:spPr>
          <a:xfrm>
            <a:off x="940237" y="1910715"/>
            <a:ext cx="1968698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Stage 1: YOLO11m Detector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40237" y="2211110"/>
            <a:ext cx="6236137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Input:</a:t>
            </a:r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원본 이미지 (1280x960)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40237" y="2481977"/>
            <a:ext cx="6236137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Output:</a:t>
            </a:r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Bounding Boxes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40237" y="2752844"/>
            <a:ext cx="6236137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클래스:</a:t>
            </a:r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단일 ("Pill")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0237" y="3023711"/>
            <a:ext cx="6236137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데이터:</a:t>
            </a:r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Kaggle(232) + AIHub(~5,000)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0" y="1771888"/>
            <a:ext cx="6513790" cy="1612940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0" y="1771888"/>
            <a:ext cx="15240" cy="1612940"/>
          </a:xfrm>
          <a:prstGeom prst="roundRect">
            <a:avLst>
              <a:gd name="adj" fmla="val 382883"/>
            </a:avLst>
          </a:prstGeom>
          <a:solidFill>
            <a:srgbClr val="C5D2CF"/>
          </a:solidFill>
          <a:ln/>
        </p:spPr>
      </p:sp>
      <p:sp>
        <p:nvSpPr>
          <p:cNvPr id="13" name="Text 11"/>
          <p:cNvSpPr/>
          <p:nvPr/>
        </p:nvSpPr>
        <p:spPr>
          <a:xfrm>
            <a:off x="7454027" y="1910715"/>
            <a:ext cx="2115383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Stage 2: ConvNeXt Classifier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54027" y="2211110"/>
            <a:ext cx="6236137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Input:</a:t>
            </a:r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크롭된 알약 이미지 (224x224)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54027" y="2481977"/>
            <a:ext cx="6236137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Output:</a:t>
            </a:r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K-code + Confidence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54027" y="2752844"/>
            <a:ext cx="6236137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클래스:</a:t>
            </a:r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74개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54027" y="3023711"/>
            <a:ext cx="6236137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Pretrained:</a:t>
            </a:r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ImageNet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3790" y="3687485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Stage 1 상세 설정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93790" y="4060746"/>
            <a:ext cx="6351984" cy="2036326"/>
          </a:xfrm>
          <a:prstGeom prst="roundRect">
            <a:avLst>
              <a:gd name="adj" fmla="val 286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1410" y="4068366"/>
            <a:ext cx="6336744" cy="4042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40237" y="4159329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항목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2419" y="4159329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값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1410" y="4472583"/>
            <a:ext cx="6336744" cy="4042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40237" y="4563547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모델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2419" y="4563547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yolo11m.pt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1410" y="4876800"/>
            <a:ext cx="6336744" cy="4042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40237" y="4967764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이미지 크기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2419" y="4967764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640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410" y="5281017"/>
            <a:ext cx="6336744" cy="4042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40237" y="5371981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에포크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2419" y="5371981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50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1410" y="5685234"/>
            <a:ext cx="6336744" cy="4042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40237" y="5776198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배치 크기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12419" y="5776198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93790" y="6253282"/>
            <a:ext cx="6351984" cy="66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YOLO11m 모델을 사용하여 알약의 위치만 검출합니다. 단일 클래스("Pill")로 학습하여 모델이 위치 검출에만 집중할 수 있도록 했습니다. Kaggle 데이터와 AIHub 데이터를 결합하여 약 5,000개의 학습 샘플을 확보했습니다.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92246" y="3687485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Stage 2 상세 설정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7492246" y="4060746"/>
            <a:ext cx="6351984" cy="2036326"/>
          </a:xfrm>
          <a:prstGeom prst="roundRect">
            <a:avLst>
              <a:gd name="adj" fmla="val 286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9866" y="4068366"/>
            <a:ext cx="6336744" cy="4042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638693" y="4159329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항목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810875" y="4159329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값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499866" y="4472583"/>
            <a:ext cx="6336744" cy="4042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638693" y="4563547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모델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810875" y="4563547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convnext_tiny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499866" y="4876800"/>
            <a:ext cx="6336744" cy="4042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638693" y="4967764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이미지 크기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810875" y="4967764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224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499866" y="5281017"/>
            <a:ext cx="6336744" cy="4042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638693" y="5371981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에포크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810875" y="5371981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50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499866" y="5685234"/>
            <a:ext cx="6336744" cy="4042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638693" y="5776198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학습률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0810875" y="5776198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1e-4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492246" y="6253282"/>
            <a:ext cx="6351984" cy="44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ImageNet으로 사전 학습된 ConvNeXt 모델을 사용하여 74개 클래스를 분류합니다. Stage 1에서 크롭된 알약 이미지(224x224)를 입력으로 받아 정확한 약물 코드(K-code)와 신뢰도를 출력합니다.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93790" y="7201376"/>
            <a:ext cx="1304282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이 2-Stage 아키텍처는 각 단계가 독립적으로 최적화될 수 있어, End-to-End 방식보다 훨씬 우수한 성능을 보였습니다. Detector는 위치 검출의 일반화 능력을 극대화하고, Classifier는 분류 정확도에만 집중할 수 있었습니다.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7813"/>
            <a:ext cx="3225165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핵심 기술 상세 - Stage 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93790" y="1052513"/>
            <a:ext cx="3341608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YOLO11m Detector: 정밀한 알약 위치 검출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93790" y="1616750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모델 설정 및 학습 전략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93790" y="1963222"/>
            <a:ext cx="6364129" cy="1897618"/>
          </a:xfrm>
          <a:prstGeom prst="roundRect">
            <a:avLst>
              <a:gd name="adj" fmla="val 285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1970842"/>
            <a:ext cx="6348889" cy="3764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30354" y="2055852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설정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08609" y="2055852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1410" y="2347317"/>
            <a:ext cx="6348889" cy="3764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0354" y="2432328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모델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08609" y="2432328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yolo11m.pt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410" y="2723793"/>
            <a:ext cx="6348889" cy="3764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30354" y="2808803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이미지 크기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08609" y="2808803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640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1410" y="3100268"/>
            <a:ext cx="6348889" cy="3764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30354" y="3185279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에포크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08609" y="3185279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50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1410" y="3476744"/>
            <a:ext cx="6348889" cy="3764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30354" y="3561755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배치 크기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08609" y="3561755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3790" y="4005858"/>
            <a:ext cx="6364129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YOLO11m 모델은 중간 크기의 모델로, 속도와 정확도 사이의 최적 균형을 제공합니다. 640x640 해상도로 학습하여 알약의 미세한 특징까지 포착할 수 있었습니다.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3790" y="4563785"/>
            <a:ext cx="6364129" cy="754499"/>
          </a:xfrm>
          <a:prstGeom prst="roundRect">
            <a:avLst>
              <a:gd name="adj" fmla="val 7181"/>
            </a:avLst>
          </a:prstGeom>
          <a:solidFill>
            <a:srgbClr val="CFE2DE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734" y="4741545"/>
            <a:ext cx="161211" cy="12894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12890" y="4724876"/>
            <a:ext cx="5816084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단일 클래스 전략: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"Pill" 하나의 클래스만 사용하여 모델이 위치 검출에만 집중하도록 했습니다. 이는 학습 안정성을 크게 향상시켰습니다.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80102" y="1616750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학습 결과 메트릭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480102" y="2027634"/>
            <a:ext cx="3101459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0.995</a:t>
            </a:r>
            <a:endParaRPr lang="en-US" sz="3350" dirty="0"/>
          </a:p>
        </p:txBody>
      </p:sp>
      <p:sp>
        <p:nvSpPr>
          <p:cNvPr id="27" name="Text 24"/>
          <p:cNvSpPr/>
          <p:nvPr/>
        </p:nvSpPr>
        <p:spPr>
          <a:xfrm>
            <a:off x="8224480" y="2614374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mAP50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7480102" y="2944773"/>
            <a:ext cx="310145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IoU 0.5 기준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742771" y="2027634"/>
            <a:ext cx="3101459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0.85</a:t>
            </a:r>
            <a:endParaRPr lang="en-US" sz="3350" dirty="0"/>
          </a:p>
        </p:txBody>
      </p:sp>
      <p:sp>
        <p:nvSpPr>
          <p:cNvPr id="30" name="Text 27"/>
          <p:cNvSpPr/>
          <p:nvPr/>
        </p:nvSpPr>
        <p:spPr>
          <a:xfrm>
            <a:off x="11487150" y="2614374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mAP50-95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10742771" y="2944773"/>
            <a:ext cx="310145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Kaggle 평가 기준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480102" y="3473648"/>
            <a:ext cx="3101459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0.99</a:t>
            </a:r>
            <a:endParaRPr lang="en-US" sz="3350" dirty="0"/>
          </a:p>
        </p:txBody>
      </p:sp>
      <p:sp>
        <p:nvSpPr>
          <p:cNvPr id="33" name="Text 30"/>
          <p:cNvSpPr/>
          <p:nvPr/>
        </p:nvSpPr>
        <p:spPr>
          <a:xfrm>
            <a:off x="8224480" y="4060388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480102" y="4390787"/>
            <a:ext cx="310145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정밀도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742771" y="3473648"/>
            <a:ext cx="3101459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0.99</a:t>
            </a:r>
            <a:endParaRPr lang="en-US" sz="3350" dirty="0"/>
          </a:p>
        </p:txBody>
      </p:sp>
      <p:sp>
        <p:nvSpPr>
          <p:cNvPr id="36" name="Text 33"/>
          <p:cNvSpPr/>
          <p:nvPr/>
        </p:nvSpPr>
        <p:spPr>
          <a:xfrm>
            <a:off x="11487150" y="4060388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Recall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10742771" y="4390787"/>
            <a:ext cx="310145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재현율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480102" y="4742259"/>
            <a:ext cx="6364129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거의 완벽에 가까운 검출 성능을 달성했습니다. 특히 Precision과 Recall이 모두 0.99로, 알약을 놓치는 경우(False Negative)와 잘못 검출하는 경우(False Positive)가 거의 없었습니다.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93790" y="5656778"/>
            <a:ext cx="1956078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핵심 개선 사항: 데이터셋 정제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793790" y="6167795"/>
            <a:ext cx="63641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테스트 환경과 유사한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3~4개 bbox 이미지만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선별 사용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93790" y="6419374"/>
            <a:ext cx="63641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품질 필터링을 통해 학습 데이터의 품질 향상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93790" y="6670953"/>
            <a:ext cx="63641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불필요한 노이즈 데이터 제거로 학습 효율 증대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93790" y="6993493"/>
            <a:ext cx="6364129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cleanup_detector_data.py 스크립트를 통해 체계적인 데이터 정제를 수행했습니다. bbox 개수, IoU 임계값, bbox 크기, 종횡비 등 다양한 기준으로 품질이 낮은 데이터를 제거했습니다.</a:t>
            </a:r>
            <a:endParaRPr lang="en-US" sz="1000" dirty="0"/>
          </a:p>
        </p:txBody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102" y="6196727"/>
            <a:ext cx="2322076" cy="12900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6027"/>
            <a:ext cx="3271957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핵심 기술 상세 - Stage 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93790" y="1050727"/>
            <a:ext cx="3065740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ConvNeXt Classifier: 정확한 알약 분류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93790" y="1614964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모델 설정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93790" y="1961436"/>
            <a:ext cx="6364129" cy="2274094"/>
          </a:xfrm>
          <a:prstGeom prst="roundRect">
            <a:avLst>
              <a:gd name="adj" fmla="val 238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1969056"/>
            <a:ext cx="6348889" cy="3764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30354" y="2054066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설정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08609" y="2054066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1410" y="2345531"/>
            <a:ext cx="6348889" cy="3764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0354" y="2430542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모델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08609" y="2430542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convnext_tiny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410" y="2722007"/>
            <a:ext cx="6348889" cy="3764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30354" y="2807018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Pretrained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08609" y="2807018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ImageNet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1410" y="3098483"/>
            <a:ext cx="6348889" cy="3764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30354" y="3183493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이미지 크기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08609" y="3183493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224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1410" y="3474958"/>
            <a:ext cx="6348889" cy="3764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30354" y="3559969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에포크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08609" y="3559969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50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1410" y="3851434"/>
            <a:ext cx="6348889" cy="3764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30354" y="3936444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학습률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08609" y="3936444"/>
            <a:ext cx="291274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1e-4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3790" y="4380547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학습 결과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3790" y="4791432"/>
            <a:ext cx="3101459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98.5%</a:t>
            </a:r>
            <a:endParaRPr lang="en-US" sz="3350" dirty="0"/>
          </a:p>
        </p:txBody>
      </p:sp>
      <p:sp>
        <p:nvSpPr>
          <p:cNvPr id="26" name="Text 24"/>
          <p:cNvSpPr/>
          <p:nvPr/>
        </p:nvSpPr>
        <p:spPr>
          <a:xfrm>
            <a:off x="1538168" y="5378172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검증 정확도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93790" y="5708571"/>
            <a:ext cx="310145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Val Accuracy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56459" y="4791432"/>
            <a:ext cx="3101459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21</a:t>
            </a:r>
            <a:endParaRPr lang="en-US" sz="3350" dirty="0"/>
          </a:p>
        </p:txBody>
      </p:sp>
      <p:sp>
        <p:nvSpPr>
          <p:cNvPr id="29" name="Text 27"/>
          <p:cNvSpPr/>
          <p:nvPr/>
        </p:nvSpPr>
        <p:spPr>
          <a:xfrm>
            <a:off x="4800838" y="5378172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Early Stop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056459" y="5708571"/>
            <a:ext cx="310145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최적 에포크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93790" y="6060043"/>
            <a:ext cx="6364129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ConvNeXt 모델은 ImageNet 사전 학습을 통해 강력한 특징 추출 능력을 갖추고 있어, 적은 데이터로도 높은 정확도를 달성할 수 있었습니다. 에포크 21에서 Early Stopping이 작동하여 과적합을 방지했습니다.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80102" y="1614964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ConvNeXt 선정 이유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480102" y="1961436"/>
            <a:ext cx="290155" cy="290155"/>
          </a:xfrm>
          <a:prstGeom prst="roundRect">
            <a:avLst>
              <a:gd name="adj" fmla="val 1867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28381" y="1985546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899202" y="2005727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ImageNet Pretrained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899202" y="2336125"/>
            <a:ext cx="59450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안정적인 feature extraction 능력, 전이 학습의 이점 활용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80102" y="2800588"/>
            <a:ext cx="290155" cy="290155"/>
          </a:xfrm>
          <a:prstGeom prst="roundRect">
            <a:avLst>
              <a:gd name="adj" fmla="val 1867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28381" y="2824698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899202" y="2844879"/>
            <a:ext cx="1621631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YOLO-cls와 동등한 성능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899202" y="3175278"/>
            <a:ext cx="59450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분류 정확도가 비슷하여 변경할 필요성 없음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80102" y="3639741"/>
            <a:ext cx="290155" cy="290155"/>
          </a:xfrm>
          <a:prstGeom prst="roundRect">
            <a:avLst>
              <a:gd name="adj" fmla="val 1867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28381" y="3663851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899202" y="3684032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크롭 이미지에 최적화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899202" y="4014430"/>
            <a:ext cx="59450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224x224 크기의 알약 이미지 분류에 특화</a:t>
            </a:r>
            <a:endParaRPr lang="en-US" sz="1000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0102" y="4365903"/>
            <a:ext cx="2322076" cy="1290042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793790" y="6734056"/>
            <a:ext cx="13042821" cy="548045"/>
          </a:xfrm>
          <a:prstGeom prst="roundRect">
            <a:avLst>
              <a:gd name="adj" fmla="val 9887"/>
            </a:avLst>
          </a:prstGeom>
          <a:solidFill>
            <a:srgbClr val="CFE2DE"/>
          </a:solidFill>
          <a:ln/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34" y="6911816"/>
            <a:ext cx="161211" cy="128945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1212890" y="6895148"/>
            <a:ext cx="12494776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핵심 인사이트: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Stage 1에서 정확하게 크롭된 알약 이미지를 입력받기 때문에, Classifier는 오직 분류에만 집중할 수 있습니다. 이는 배경 노이즈 제거와 일관된 입력 크기로 인한 학습 안정성 향상으로 이어졌습니다.</a:t>
            </a:r>
            <a:endParaRPr lang="en-US" sz="1000" dirty="0"/>
          </a:p>
        </p:txBody>
      </p:sp>
      <p:sp>
        <p:nvSpPr>
          <p:cNvPr id="49" name="Text 45"/>
          <p:cNvSpPr/>
          <p:nvPr/>
        </p:nvSpPr>
        <p:spPr>
          <a:xfrm>
            <a:off x="793790" y="7427119"/>
            <a:ext cx="1304282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ConvNeXt는 Transformer의 장점을 CNN 구조에 접목한 모델로, 계산 효율성과 정확도 사이의 최적 균형을 제공합니다. 74개의 알약 클래스를 98.5%의 정확도로 구분할 수 있었습니다.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77929"/>
            <a:ext cx="3473291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W&amp;B 실험 추적 시스템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93790" y="1067514"/>
            <a:ext cx="2730103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팀 협업을 위한 체계적 실험 관리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3790" y="1536263"/>
            <a:ext cx="1304282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담당:</a:t>
            </a:r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황유민 (Experiment Lead)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93790" y="2053590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W&amp;B 선정 및 구축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93790" y="2409468"/>
            <a:ext cx="6351984" cy="44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MLflow vs W&amp;B 비교 분석 후 </a:t>
            </a:r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W&amp;B를 최종 채택</a:t>
            </a:r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했습니다. 팀 프로젝트 특성상 실시간 공유와 직관적인 시각화가 중요했기 때문입니다.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93790" y="3010257"/>
            <a:ext cx="6351984" cy="2662833"/>
          </a:xfrm>
          <a:prstGeom prst="roundRect">
            <a:avLst>
              <a:gd name="adj" fmla="val 219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1410" y="3017877"/>
            <a:ext cx="6336744" cy="4042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40237" y="3108841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구성 요소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2419" y="3108841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구현 내용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1410" y="3422094"/>
            <a:ext cx="6336744" cy="4042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40237" y="3513058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팀 워크스페이스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2419" y="3513058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entity='codeit_team8', 팀원 전체 초대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410" y="3826312"/>
            <a:ext cx="6336744" cy="4042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40237" y="3917275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로그 구조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2419" y="3917275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logs/experiments/ 실험 결과 체계적 관리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1410" y="4230529"/>
            <a:ext cx="6336744" cy="6265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40237" y="4321493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메트릭 추적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2419" y="4321493"/>
            <a:ext cx="2886908" cy="44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mAP50, mAP50-95, mAP75-95, loss 실시간 모니터링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1410" y="4857036"/>
            <a:ext cx="6336744" cy="4042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40237" y="4947999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이미지 분석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2419" y="4947999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예측 이미지 자동 업로드 및 시각화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1410" y="5261253"/>
            <a:ext cx="6336744" cy="4042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40237" y="5352217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실험 ID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2419" y="5352217"/>
            <a:ext cx="28869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exp_001, exp_002... 체계적 명명 규칙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3790" y="5829300"/>
            <a:ext cx="6351984" cy="44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팀 전체가 실시간으로 실험 진행 상황을 확인하고 피드백을 주고받을 수 있는 환경을 구축했습니다. 이는 프로젝트의 기획 → 실험 → 로그 공유 → 피드백 → 버전 컨트롤 사이클을 원활하게 만들었습니다.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2246" y="2053590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Kaggle 평가 기준 추적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492246" y="2426851"/>
            <a:ext cx="6351984" cy="590193"/>
          </a:xfrm>
          <a:prstGeom prst="roundRect">
            <a:avLst>
              <a:gd name="adj" fmla="val 9887"/>
            </a:avLst>
          </a:prstGeom>
          <a:solidFill>
            <a:srgbClr val="CFE2DE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1073" y="2623542"/>
            <a:ext cx="173593" cy="138827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943493" y="2600325"/>
            <a:ext cx="576191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callbacks.py 핵심 구현</a:t>
            </a:r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(담당: 김보윤)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492246" y="3173254"/>
            <a:ext cx="6351984" cy="1319808"/>
          </a:xfrm>
          <a:prstGeom prst="roundRect">
            <a:avLst>
              <a:gd name="adj" fmla="val 4421"/>
            </a:avLst>
          </a:prstGeom>
          <a:solidFill>
            <a:srgbClr val="F2F2F2"/>
          </a:solidFill>
          <a:ln/>
        </p:spPr>
      </p:sp>
      <p:sp>
        <p:nvSpPr>
          <p:cNvPr id="32" name="Shape 29"/>
          <p:cNvSpPr/>
          <p:nvPr/>
        </p:nvSpPr>
        <p:spPr>
          <a:xfrm>
            <a:off x="7485340" y="3173254"/>
            <a:ext cx="6365796" cy="1319808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33" name="Text 30"/>
          <p:cNvSpPr/>
          <p:nvPr/>
        </p:nvSpPr>
        <p:spPr>
          <a:xfrm>
            <a:off x="7624167" y="3277433"/>
            <a:ext cx="6088142" cy="111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Kaggle 평가 기준: mAP@0.75:0.95 계산</a:t>
            </a:r>
            <a:endParaRPr lang="en-US" sz="10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ap_75_95 = ap[:, 5:].mean()  </a:t>
            </a:r>
            <a:endParaRPr lang="en-US" sz="10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IoU 0.75~0.95 (index 5~9)</a:t>
            </a:r>
            <a:endParaRPr lang="en-US" sz="10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log_dict["val/mAP75-95"] = float(ap_75_95)</a:t>
            </a:r>
            <a:endParaRPr lang="en-US" sz="10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wandb.log(log_dict)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492246" y="4649272"/>
            <a:ext cx="6351984" cy="44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Kaggle의 평가 지표인 mAP@[0.75:0.95]를 정확히 추적하기 위해 커스텀 콜백을 구현했습니다. IoU 임계값 0.75부터 0.95까지의 평균 정밀도를 계산하여 실시간으로 W&amp;B에 로깅했습니다.</a:t>
            </a:r>
            <a:endParaRPr lang="en-US" sz="105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246" y="5250061"/>
            <a:ext cx="2500670" cy="1389221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93790" y="7003852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프로젝트 역할</a:t>
            </a:r>
            <a:endParaRPr lang="en-US" sz="1350" dirty="0"/>
          </a:p>
        </p:txBody>
      </p:sp>
      <p:sp>
        <p:nvSpPr>
          <p:cNvPr id="37" name="Text 33"/>
          <p:cNvSpPr/>
          <p:nvPr/>
        </p:nvSpPr>
        <p:spPr>
          <a:xfrm>
            <a:off x="793790" y="7429262"/>
            <a:ext cx="1304282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황유민님은 팀의 Experiment Lead로서 모든 실험을 기획하고, 결과를 분석하며, 팀원들과 지식을 공유하는 역할을 수행했습니다. W&amp;B를 통한 체계적인 실험 관리는 프로젝트 성공의 핵심 요소였습니다.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661" y="490657"/>
            <a:ext cx="2899529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증강 실험 전략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713661" y="899279"/>
            <a:ext cx="2240518" cy="217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데이터 최적화를 통한 성능 향상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13661" y="1290638"/>
            <a:ext cx="13203079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담당: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황유민 (Experiment Lead)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3661" y="1722477"/>
            <a:ext cx="1449705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실험 우선순위 설계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661" y="2034064"/>
            <a:ext cx="579834" cy="7146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9462" y="2150031"/>
            <a:ext cx="1618536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1단계: Data Augmentation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409462" y="2447211"/>
            <a:ext cx="5764292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데이터 증강 기법 최적화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61" y="2748677"/>
            <a:ext cx="579834" cy="7146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9462" y="2864644"/>
            <a:ext cx="1449705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2단계: Hyperparameter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409462" y="3161824"/>
            <a:ext cx="5764292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하이퍼파라미터 튜닝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61" y="3463290"/>
            <a:ext cx="579834" cy="7146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09462" y="3579257"/>
            <a:ext cx="1449705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3단계: Model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409462" y="3876437"/>
            <a:ext cx="5764292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모델 아키텍처 선택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61" y="4177903"/>
            <a:ext cx="579834" cy="71461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09462" y="4293870"/>
            <a:ext cx="1449705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4단계: Ensemble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409462" y="4591050"/>
            <a:ext cx="5764292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앙상블 기법 적용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713661" y="5022890"/>
            <a:ext cx="6460093" cy="370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데이터 증강을 최우선으로 실험한 이유는, 데이터가 모델 성능의 상한선을 결정하기 때문입니다. 좋은 데이터로 학습한 간단한 모델이 나쁜 데이터로 학습한 복잡한 모델보다 낫습니다.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464266" y="1722477"/>
            <a:ext cx="1449705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데이터 최적화 4가지 축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464266" y="2034064"/>
            <a:ext cx="6460093" cy="1714262"/>
          </a:xfrm>
          <a:prstGeom prst="roundRect">
            <a:avLst>
              <a:gd name="adj" fmla="val 28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71886" y="2041684"/>
            <a:ext cx="6444139" cy="3398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588687" y="2118836"/>
            <a:ext cx="1912025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축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9740265" y="2118836"/>
            <a:ext cx="1908215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실험 내용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888033" y="2118836"/>
            <a:ext cx="1912025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담당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7471886" y="2381488"/>
            <a:ext cx="6444139" cy="3398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7588687" y="2458641"/>
            <a:ext cx="1912025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Input Size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9740265" y="2458641"/>
            <a:ext cx="1908215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640 vs 1280 해상도 비교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888033" y="2458641"/>
            <a:ext cx="1912025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이진석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7471886" y="2721293"/>
            <a:ext cx="6444139" cy="3398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7588687" y="2798445"/>
            <a:ext cx="1912025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기본 Aug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9740265" y="2798445"/>
            <a:ext cx="1908215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기본 증강 조합 실험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888033" y="2798445"/>
            <a:ext cx="1912025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김민우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471886" y="3061097"/>
            <a:ext cx="6444139" cy="3398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28"/>
          <p:cNvSpPr/>
          <p:nvPr/>
        </p:nvSpPr>
        <p:spPr>
          <a:xfrm>
            <a:off x="7588687" y="3138249"/>
            <a:ext cx="1912025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색상 증강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9740265" y="3138249"/>
            <a:ext cx="1908215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색상 변환, 밝기/대비 조정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888033" y="3138249"/>
            <a:ext cx="1912025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김나연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7471886" y="3400901"/>
            <a:ext cx="6444139" cy="3398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2"/>
          <p:cNvSpPr/>
          <p:nvPr/>
        </p:nvSpPr>
        <p:spPr>
          <a:xfrm>
            <a:off x="7588687" y="3478054"/>
            <a:ext cx="1912025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기하 증강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9740265" y="3478054"/>
            <a:ext cx="1908215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회전, 이동, 스케일 변환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888033" y="3478054"/>
            <a:ext cx="1912025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김보윤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7464266" y="3878699"/>
            <a:ext cx="6460093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4명의 팀원이 각자 다른 축을 담당하여 병렬적으로 실험을 진행했습니다. 이는 실험 속도를 크게 향상시켰습니다.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713661" y="5672138"/>
            <a:ext cx="1449705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실험 프로토콜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713661" y="6143268"/>
            <a:ext cx="1449705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통제 변수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713661" y="6440448"/>
            <a:ext cx="4167426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Seed=42 고정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713661" y="6666428"/>
            <a:ext cx="4167426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Epoch=50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713661" y="6892409"/>
            <a:ext cx="4167426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Batch=8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5171599" y="6143268"/>
            <a:ext cx="1449705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비교 방법</a:t>
            </a:r>
            <a:endParaRPr lang="en-US" sz="1100" dirty="0"/>
          </a:p>
        </p:txBody>
      </p:sp>
      <p:sp>
        <p:nvSpPr>
          <p:cNvPr id="48" name="Text 42"/>
          <p:cNvSpPr/>
          <p:nvPr/>
        </p:nvSpPr>
        <p:spPr>
          <a:xfrm>
            <a:off x="5171599" y="6440448"/>
            <a:ext cx="4167426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A/B 실험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5171599" y="6666428"/>
            <a:ext cx="4167426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단일 변수만 변경</a:t>
            </a:r>
            <a:endParaRPr lang="en-US" sz="900" dirty="0"/>
          </a:p>
        </p:txBody>
      </p:sp>
      <p:sp>
        <p:nvSpPr>
          <p:cNvPr id="50" name="Text 44"/>
          <p:cNvSpPr/>
          <p:nvPr/>
        </p:nvSpPr>
        <p:spPr>
          <a:xfrm>
            <a:off x="5171599" y="6892409"/>
            <a:ext cx="4167426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나머지 조건 동일</a:t>
            </a:r>
            <a:endParaRPr lang="en-US" sz="900" dirty="0"/>
          </a:p>
        </p:txBody>
      </p:sp>
      <p:sp>
        <p:nvSpPr>
          <p:cNvPr id="51" name="Text 45"/>
          <p:cNvSpPr/>
          <p:nvPr/>
        </p:nvSpPr>
        <p:spPr>
          <a:xfrm>
            <a:off x="9629537" y="6143268"/>
            <a:ext cx="1449705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기록 방식</a:t>
            </a:r>
            <a:endParaRPr lang="en-US" sz="1100" dirty="0"/>
          </a:p>
        </p:txBody>
      </p:sp>
      <p:sp>
        <p:nvSpPr>
          <p:cNvPr id="52" name="Text 46"/>
          <p:cNvSpPr/>
          <p:nvPr/>
        </p:nvSpPr>
        <p:spPr>
          <a:xfrm>
            <a:off x="9629537" y="6440448"/>
            <a:ext cx="4302323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W&amp;B 자동 로깅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9629537" y="6666428"/>
            <a:ext cx="4302323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실험일지 작성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9629537" y="6892409"/>
            <a:ext cx="4302323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exp_xxx_log.md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713661" y="7248763"/>
            <a:ext cx="13203079" cy="492681"/>
          </a:xfrm>
          <a:prstGeom prst="roundRect">
            <a:avLst>
              <a:gd name="adj" fmla="val 9887"/>
            </a:avLst>
          </a:prstGeom>
          <a:solidFill>
            <a:srgbClr val="CFE2DE"/>
          </a:solidFill>
          <a:ln/>
        </p:spPr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628" y="7414022"/>
            <a:ext cx="144899" cy="115967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1090493" y="7393662"/>
            <a:ext cx="12710279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핵심 인사이트: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모델이 바뀌어도 최적 하이퍼파라미터는 10~20% 정도만 변동합니다. 따라서 먼저 하이퍼파라미터를 고정한 후 fine-tuning하는 것이 효율적입니다.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3998" y="382905"/>
            <a:ext cx="2805708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데이터 정제 - Best Score 달성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553998" y="700207"/>
            <a:ext cx="2793563" cy="168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cleanup_detector_data.py: 0.96703 달성의 비결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53998" y="1093946"/>
            <a:ext cx="1125379" cy="14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데이터 정제 기준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53998" y="1335762"/>
            <a:ext cx="6651427" cy="1350526"/>
          </a:xfrm>
          <a:prstGeom prst="roundRect">
            <a:avLst>
              <a:gd name="adj" fmla="val 280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1618" y="1343382"/>
            <a:ext cx="6635472" cy="2670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52343" y="1404938"/>
            <a:ext cx="2027753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정제 기준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867739" y="1404938"/>
            <a:ext cx="2023943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값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79325" y="1404938"/>
            <a:ext cx="2027753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이유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61618" y="1610439"/>
            <a:ext cx="6635472" cy="26705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2343" y="1671995"/>
            <a:ext cx="2027753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bbox 개수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867739" y="1671995"/>
            <a:ext cx="2023943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2~4개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79325" y="1671995"/>
            <a:ext cx="2027753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Kaggle 테스트와 동일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61618" y="1877497"/>
            <a:ext cx="6635472" cy="2670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52343" y="1939052"/>
            <a:ext cx="2027753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IoU 임계값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867739" y="1939052"/>
            <a:ext cx="2023943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0.7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079325" y="1939052"/>
            <a:ext cx="2027753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진짜 중복만 검출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61618" y="2144554"/>
            <a:ext cx="6635472" cy="26705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52343" y="2206109"/>
            <a:ext cx="2027753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bbox 크기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867739" y="2206109"/>
            <a:ext cx="2023943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30px 이상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079325" y="2206109"/>
            <a:ext cx="2027753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너무 작은 bbox 제외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61618" y="2411611"/>
            <a:ext cx="6635472" cy="2670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52343" y="2473166"/>
            <a:ext cx="2027753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종횡비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867739" y="2473166"/>
            <a:ext cx="2023943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3.5 이하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079325" y="2473166"/>
            <a:ext cx="2027753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비정상 형태 제외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53998" y="2787491"/>
            <a:ext cx="6651427" cy="287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데이터 정제의 핵심은 </a:t>
            </a:r>
            <a:pPr algn="l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테스트 환경과 유사한 데이터만 선별</a:t>
            </a:r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하는 것이었습니다. Kaggle 테스트 이미지는 대부분 3~4개의 알약을 포함하므로, 학습 데이터도 이에 맞춰 필터링했습니다.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53998" y="3176588"/>
            <a:ext cx="6651427" cy="382429"/>
          </a:xfrm>
          <a:prstGeom prst="roundRect">
            <a:avLst>
              <a:gd name="adj" fmla="val 9889"/>
            </a:avLst>
          </a:prstGeom>
          <a:solidFill>
            <a:srgbClr val="CFE2DE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009" y="3301722"/>
            <a:ext cx="112514" cy="90011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46534" y="3289102"/>
            <a:ext cx="6268879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품질 낮은 데이터를 제거하는 것이 많은 데이터를 추가하는 것보다 효과적일 수 있습니다.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7432596" y="1093946"/>
            <a:ext cx="1125379" cy="14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정제 결과 및 효과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432596" y="1380768"/>
            <a:ext cx="3269456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10K</a:t>
            </a:r>
            <a:endParaRPr lang="en-US" sz="2300" dirty="0"/>
          </a:p>
        </p:txBody>
      </p:sp>
      <p:sp>
        <p:nvSpPr>
          <p:cNvPr id="32" name="Text 29"/>
          <p:cNvSpPr/>
          <p:nvPr/>
        </p:nvSpPr>
        <p:spPr>
          <a:xfrm>
            <a:off x="8504634" y="1790343"/>
            <a:ext cx="1125379" cy="14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정제 전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432596" y="2020967"/>
            <a:ext cx="3269456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혼재된 품질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814566" y="1380768"/>
            <a:ext cx="3269456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7K</a:t>
            </a:r>
            <a:endParaRPr lang="en-US" sz="2300" dirty="0"/>
          </a:p>
        </p:txBody>
      </p:sp>
      <p:sp>
        <p:nvSpPr>
          <p:cNvPr id="35" name="Text 32"/>
          <p:cNvSpPr/>
          <p:nvPr/>
        </p:nvSpPr>
        <p:spPr>
          <a:xfrm>
            <a:off x="11886605" y="1790343"/>
            <a:ext cx="1125379" cy="14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정제 후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10814566" y="2020967"/>
            <a:ext cx="3269456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고품질만 선별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9123521" y="2389942"/>
            <a:ext cx="3269456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0.967</a:t>
            </a:r>
            <a:endParaRPr lang="en-US" sz="2300" dirty="0"/>
          </a:p>
        </p:txBody>
      </p:sp>
      <p:sp>
        <p:nvSpPr>
          <p:cNvPr id="38" name="Text 35"/>
          <p:cNvSpPr/>
          <p:nvPr/>
        </p:nvSpPr>
        <p:spPr>
          <a:xfrm>
            <a:off x="10195560" y="2799517"/>
            <a:ext cx="1125379" cy="14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최종 점수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9123521" y="3030141"/>
            <a:ext cx="3269456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Best Score 달성</a:t>
            </a:r>
            <a:endParaRPr lang="en-US" sz="700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596" y="3275290"/>
            <a:ext cx="1620679" cy="900351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553998" y="4411861"/>
            <a:ext cx="1125379" cy="14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핵심 버그 수정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553998" y="4768453"/>
            <a:ext cx="6651427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문제 발견:</a:t>
            </a:r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category_id 변환 오류</a:t>
            </a:r>
            <a:endParaRPr lang="en-US" sz="700" dirty="0"/>
          </a:p>
        </p:txBody>
      </p:sp>
      <p:sp>
        <p:nvSpPr>
          <p:cNvPr id="43" name="Text 39"/>
          <p:cNvSpPr/>
          <p:nvPr/>
        </p:nvSpPr>
        <p:spPr>
          <a:xfrm>
            <a:off x="553998" y="4993362"/>
            <a:ext cx="6651427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YOLO index와 dl_idx를 혼동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553998" y="5168741"/>
            <a:ext cx="6651427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K-code 매핑이 잘못되어 분류 오류 발생</a:t>
            </a:r>
            <a:endParaRPr lang="en-US" sz="700" dirty="0"/>
          </a:p>
        </p:txBody>
      </p:sp>
      <p:sp>
        <p:nvSpPr>
          <p:cNvPr id="45" name="Text 41"/>
          <p:cNvSpPr/>
          <p:nvPr/>
        </p:nvSpPr>
        <p:spPr>
          <a:xfrm>
            <a:off x="553998" y="5344120"/>
            <a:ext cx="6651427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0.81에서 정체되던 원인</a:t>
            </a:r>
            <a:endParaRPr lang="en-US" sz="700" dirty="0"/>
          </a:p>
        </p:txBody>
      </p:sp>
      <p:sp>
        <p:nvSpPr>
          <p:cNvPr id="46" name="Text 42"/>
          <p:cNvSpPr/>
          <p:nvPr/>
        </p:nvSpPr>
        <p:spPr>
          <a:xfrm>
            <a:off x="553998" y="5569029"/>
            <a:ext cx="6651427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해결 방법:</a:t>
            </a:r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self.classifier.names[top1_idx] 직접 사용</a:t>
            </a:r>
            <a:endParaRPr lang="en-US" sz="700" dirty="0"/>
          </a:p>
        </p:txBody>
      </p:sp>
      <p:sp>
        <p:nvSpPr>
          <p:cNvPr id="47" name="Text 43"/>
          <p:cNvSpPr/>
          <p:nvPr/>
        </p:nvSpPr>
        <p:spPr>
          <a:xfrm>
            <a:off x="553998" y="5793938"/>
            <a:ext cx="6651427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중간 변환 과정 제거</a:t>
            </a:r>
            <a:endParaRPr lang="en-US" sz="700" dirty="0"/>
          </a:p>
        </p:txBody>
      </p:sp>
      <p:sp>
        <p:nvSpPr>
          <p:cNvPr id="48" name="Text 44"/>
          <p:cNvSpPr/>
          <p:nvPr/>
        </p:nvSpPr>
        <p:spPr>
          <a:xfrm>
            <a:off x="553998" y="5969318"/>
            <a:ext cx="6651427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K-code를 직접 참조하도록 수정</a:t>
            </a:r>
            <a:endParaRPr lang="en-US" sz="700" dirty="0"/>
          </a:p>
        </p:txBody>
      </p:sp>
      <p:sp>
        <p:nvSpPr>
          <p:cNvPr id="49" name="Text 45"/>
          <p:cNvSpPr/>
          <p:nvPr/>
        </p:nvSpPr>
        <p:spPr>
          <a:xfrm>
            <a:off x="553998" y="6194227"/>
            <a:ext cx="6651427" cy="1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효과:</a:t>
            </a:r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0.81 → </a:t>
            </a:r>
            <a:pPr algn="l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0.96</a:t>
            </a:r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극적인 향상!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7432596" y="4777502"/>
            <a:ext cx="1125379" cy="14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재현 명령어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7432596" y="5019318"/>
            <a:ext cx="6651427" cy="2726055"/>
          </a:xfrm>
          <a:prstGeom prst="roundRect">
            <a:avLst>
              <a:gd name="adj" fmla="val 1387"/>
            </a:avLst>
          </a:prstGeom>
          <a:solidFill>
            <a:srgbClr val="F2F2F2"/>
          </a:solidFill>
          <a:ln/>
        </p:spPr>
      </p:sp>
      <p:sp>
        <p:nvSpPr>
          <p:cNvPr id="52" name="Shape 48"/>
          <p:cNvSpPr/>
          <p:nvPr/>
        </p:nvSpPr>
        <p:spPr>
          <a:xfrm>
            <a:off x="7428190" y="5019318"/>
            <a:ext cx="6660237" cy="2726055"/>
          </a:xfrm>
          <a:prstGeom prst="roundRect">
            <a:avLst>
              <a:gd name="adj" fmla="val 495"/>
            </a:avLst>
          </a:prstGeom>
          <a:solidFill>
            <a:srgbClr val="F2F2F2"/>
          </a:solidFill>
          <a:ln/>
        </p:spPr>
      </p:sp>
      <p:sp>
        <p:nvSpPr>
          <p:cNvPr id="53" name="Text 49"/>
          <p:cNvSpPr/>
          <p:nvPr/>
        </p:nvSpPr>
        <p:spPr>
          <a:xfrm>
            <a:off x="7518202" y="5086826"/>
            <a:ext cx="6480215" cy="259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1. Detector 데이터 추출</a:t>
            </a:r>
            <a:endParaRPr lang="en-US" sz="7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src/data/aihub/extract_for_detector.py</a:t>
            </a:r>
            <a:endParaRPr lang="en-US" sz="700" dirty="0"/>
          </a:p>
          <a:p>
            <a:pPr algn="l" indent="0" marL="0">
              <a:lnSpc>
                <a:spcPts val="1100"/>
              </a:lnSpc>
              <a:buNone/>
            </a:pPr>
            <a:endParaRPr lang="en-US" sz="7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2. 데이터 정제</a:t>
            </a:r>
            <a:endParaRPr lang="en-US" sz="7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src/data/cleanup_detector_data.py --delete</a:t>
            </a:r>
            <a:endParaRPr lang="en-US" sz="700" dirty="0"/>
          </a:p>
          <a:p>
            <a:pPr algn="l" indent="0" marL="0">
              <a:lnSpc>
                <a:spcPts val="1100"/>
              </a:lnSpc>
              <a:buNone/>
            </a:pPr>
            <a:endParaRPr lang="en-US" sz="7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3. Detector 학습</a:t>
            </a:r>
            <a:endParaRPr lang="en-US" sz="7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src/models/yolo11m_detector.py</a:t>
            </a:r>
            <a:endParaRPr lang="en-US" sz="700" dirty="0"/>
          </a:p>
          <a:p>
            <a:pPr algn="l" indent="0" marL="0">
              <a:lnSpc>
                <a:spcPts val="1100"/>
              </a:lnSpc>
              <a:buNone/>
            </a:pPr>
            <a:endParaRPr lang="en-US" sz="7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4. Classifier 데이터 추출 &amp; 정제</a:t>
            </a:r>
            <a:endParaRPr lang="en-US" sz="7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src/data/aihub/extract_and_crop.py</a:t>
            </a:r>
            <a:endParaRPr lang="en-US" sz="700" dirty="0"/>
          </a:p>
          <a:p>
            <a:pPr algn="l" indent="0" marL="0">
              <a:lnSpc>
                <a:spcPts val="1100"/>
              </a:lnSpc>
              <a:buNone/>
            </a:pPr>
            <a:endParaRPr lang="en-US" sz="7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5. Classifier 학습</a:t>
            </a:r>
            <a:endParaRPr lang="en-US" sz="7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src/models/convnext_classifier.py</a:t>
            </a:r>
            <a:endParaRPr lang="en-US" sz="700" dirty="0"/>
          </a:p>
          <a:p>
            <a:pPr algn="l" indent="0" marL="0">
              <a:lnSpc>
                <a:spcPts val="1100"/>
              </a:lnSpc>
              <a:buNone/>
            </a:pPr>
            <a:endParaRPr lang="en-US" sz="7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6. 제출 파일 생성</a:t>
            </a:r>
            <a:endParaRPr lang="en-US" sz="7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src.inference.submit_v2 \</a:t>
            </a:r>
            <a:endParaRPr lang="en-US" sz="7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--det_conf 0.05 --cls_conf 0.3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522327"/>
            <a:ext cx="3074313" cy="384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실험 결과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56642" y="955715"/>
            <a:ext cx="3266956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Kaggle 제출 히스토리 - 점진적 개선의 여정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56642" y="1493520"/>
            <a:ext cx="1537097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제출 기록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56642" y="1823799"/>
            <a:ext cx="7750254" cy="2727246"/>
          </a:xfrm>
          <a:prstGeom prst="roundRect">
            <a:avLst>
              <a:gd name="adj" fmla="val 189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4262" y="1831419"/>
            <a:ext cx="7735014" cy="3593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87373" y="1912739"/>
            <a:ext cx="168413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#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24877" y="1912739"/>
            <a:ext cx="168032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Score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8571" y="1912739"/>
            <a:ext cx="168032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설명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92265" y="1912739"/>
            <a:ext cx="168413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변화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4262" y="2190750"/>
            <a:ext cx="7735014" cy="5560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87373" y="2272070"/>
            <a:ext cx="168413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24877" y="2272070"/>
            <a:ext cx="168032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0.82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8571" y="2272070"/>
            <a:ext cx="1680329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Baseline (YOLO12m End-to-end)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92265" y="2272070"/>
            <a:ext cx="168413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-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4262" y="2746772"/>
            <a:ext cx="7735014" cy="3593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87373" y="2828092"/>
            <a:ext cx="168413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24877" y="2828092"/>
            <a:ext cx="168032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0.822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8571" y="2828092"/>
            <a:ext cx="168032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단일경구제 + 56클래스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92265" y="2828092"/>
            <a:ext cx="168413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+0.002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4262" y="3106103"/>
            <a:ext cx="7735014" cy="3593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87373" y="3187422"/>
            <a:ext cx="168413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24877" y="3187422"/>
            <a:ext cx="168032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0.920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8571" y="3187422"/>
            <a:ext cx="168032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2-Stage (YOLO + YOLO-cls)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92265" y="3187422"/>
            <a:ext cx="168413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+0.098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4262" y="3465433"/>
            <a:ext cx="7735014" cy="3593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87373" y="3546753"/>
            <a:ext cx="168413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824877" y="3546753"/>
            <a:ext cx="168032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0.963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8571" y="3546753"/>
            <a:ext cx="168032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데이터셋/Detector 개선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92265" y="3546753"/>
            <a:ext cx="168413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+0.043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64262" y="3824764"/>
            <a:ext cx="7735014" cy="3593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87373" y="3906083"/>
            <a:ext cx="168413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824877" y="3906083"/>
            <a:ext cx="168032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0.965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8571" y="3906083"/>
            <a:ext cx="168032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AIHub 데이터 추가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692265" y="3906083"/>
            <a:ext cx="168413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+0.002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64262" y="4184094"/>
            <a:ext cx="7735014" cy="3593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87373" y="4265414"/>
            <a:ext cx="168413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6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824877" y="4265414"/>
            <a:ext cx="168032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0.96703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58571" y="4265414"/>
            <a:ext cx="168032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데이터셋 정제 + ConvNeXt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692265" y="4265414"/>
            <a:ext cx="1684139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+0.002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56642" y="4689277"/>
            <a:ext cx="7750254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총 6번의 주요 제출을 통해 Baseline 0.82에서 최종 0.96703까지 향상시켰습니다. 가장 큰 도약은 2-Stage Pipeline 도입 시점(제출 #3)으로, +0.098의 개선을 이뤘습니다.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56642" y="5205532"/>
            <a:ext cx="1537097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주요 전환점 분석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814554" y="1493520"/>
            <a:ext cx="1537097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점수 향상 추이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937546" y="2008227"/>
            <a:ext cx="122873" cy="572810"/>
          </a:xfrm>
          <a:prstGeom prst="roundRect">
            <a:avLst>
              <a:gd name="adj" fmla="val 4203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14554" y="1927503"/>
            <a:ext cx="368856" cy="368856"/>
          </a:xfrm>
          <a:prstGeom prst="roundRect">
            <a:avLst>
              <a:gd name="adj" fmla="val 12395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06708" y="2019657"/>
            <a:ext cx="184428" cy="184428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9306282" y="1946672"/>
            <a:ext cx="1537097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0.82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9306282" y="2261592"/>
            <a:ext cx="4575096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Baseline 구축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9121973" y="2888456"/>
            <a:ext cx="122873" cy="572810"/>
          </a:xfrm>
          <a:prstGeom prst="roundRect">
            <a:avLst>
              <a:gd name="adj" fmla="val 4203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998982" y="2807732"/>
            <a:ext cx="368856" cy="368856"/>
          </a:xfrm>
          <a:prstGeom prst="roundRect">
            <a:avLst>
              <a:gd name="adj" fmla="val 12395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1136" y="2899886"/>
            <a:ext cx="184428" cy="184428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9490710" y="2826901"/>
            <a:ext cx="1537097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0.822</a:t>
            </a:r>
            <a:endParaRPr lang="en-US" sz="1200" dirty="0"/>
          </a:p>
        </p:txBody>
      </p:sp>
      <p:sp>
        <p:nvSpPr>
          <p:cNvPr id="53" name="Text 49"/>
          <p:cNvSpPr/>
          <p:nvPr/>
        </p:nvSpPr>
        <p:spPr>
          <a:xfrm>
            <a:off x="9490710" y="3141821"/>
            <a:ext cx="4390668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외부 데이터 시도</a:t>
            </a:r>
            <a:endParaRPr lang="en-US" sz="950" dirty="0"/>
          </a:p>
        </p:txBody>
      </p:sp>
      <p:sp>
        <p:nvSpPr>
          <p:cNvPr id="54" name="Shape 50"/>
          <p:cNvSpPr/>
          <p:nvPr/>
        </p:nvSpPr>
        <p:spPr>
          <a:xfrm>
            <a:off x="9306401" y="3768685"/>
            <a:ext cx="122873" cy="572810"/>
          </a:xfrm>
          <a:prstGeom prst="roundRect">
            <a:avLst>
              <a:gd name="adj" fmla="val 4203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9183410" y="3687961"/>
            <a:ext cx="368856" cy="368856"/>
          </a:xfrm>
          <a:prstGeom prst="roundRect">
            <a:avLst>
              <a:gd name="adj" fmla="val 12395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75564" y="3780115"/>
            <a:ext cx="184428" cy="184428"/>
          </a:xfrm>
          <a:prstGeom prst="rect">
            <a:avLst/>
          </a:prstGeom>
        </p:spPr>
      </p:pic>
      <p:sp>
        <p:nvSpPr>
          <p:cNvPr id="57" name="Text 52"/>
          <p:cNvSpPr/>
          <p:nvPr/>
        </p:nvSpPr>
        <p:spPr>
          <a:xfrm>
            <a:off x="9675138" y="3707130"/>
            <a:ext cx="1537097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0.920</a:t>
            </a:r>
            <a:endParaRPr lang="en-US" sz="1200" dirty="0"/>
          </a:p>
        </p:txBody>
      </p:sp>
      <p:sp>
        <p:nvSpPr>
          <p:cNvPr id="58" name="Text 53"/>
          <p:cNvSpPr/>
          <p:nvPr/>
        </p:nvSpPr>
        <p:spPr>
          <a:xfrm>
            <a:off x="9675138" y="4022050"/>
            <a:ext cx="4206240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2-Stage 전환 (대폭 개선)</a:t>
            </a:r>
            <a:endParaRPr lang="en-US" sz="950" dirty="0"/>
          </a:p>
        </p:txBody>
      </p:sp>
      <p:sp>
        <p:nvSpPr>
          <p:cNvPr id="59" name="Shape 54"/>
          <p:cNvSpPr/>
          <p:nvPr/>
        </p:nvSpPr>
        <p:spPr>
          <a:xfrm>
            <a:off x="9490829" y="4648914"/>
            <a:ext cx="122873" cy="572810"/>
          </a:xfrm>
          <a:prstGeom prst="roundRect">
            <a:avLst>
              <a:gd name="adj" fmla="val 4203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9367838" y="4568190"/>
            <a:ext cx="368856" cy="368856"/>
          </a:xfrm>
          <a:prstGeom prst="roundRect">
            <a:avLst>
              <a:gd name="adj" fmla="val 12395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6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59992" y="4660344"/>
            <a:ext cx="184428" cy="184428"/>
          </a:xfrm>
          <a:prstGeom prst="rect">
            <a:avLst/>
          </a:prstGeom>
        </p:spPr>
      </p:pic>
      <p:sp>
        <p:nvSpPr>
          <p:cNvPr id="62" name="Text 56"/>
          <p:cNvSpPr/>
          <p:nvPr/>
        </p:nvSpPr>
        <p:spPr>
          <a:xfrm>
            <a:off x="9859566" y="4587359"/>
            <a:ext cx="1537097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0.963</a:t>
            </a:r>
            <a:endParaRPr lang="en-US" sz="1200" dirty="0"/>
          </a:p>
        </p:txBody>
      </p:sp>
      <p:sp>
        <p:nvSpPr>
          <p:cNvPr id="63" name="Text 57"/>
          <p:cNvSpPr/>
          <p:nvPr/>
        </p:nvSpPr>
        <p:spPr>
          <a:xfrm>
            <a:off x="9859566" y="4902279"/>
            <a:ext cx="4021812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Detector 개선</a:t>
            </a:r>
            <a:endParaRPr lang="en-US" sz="950" dirty="0"/>
          </a:p>
        </p:txBody>
      </p:sp>
      <p:sp>
        <p:nvSpPr>
          <p:cNvPr id="64" name="Shape 58"/>
          <p:cNvSpPr/>
          <p:nvPr/>
        </p:nvSpPr>
        <p:spPr>
          <a:xfrm>
            <a:off x="9306401" y="5529143"/>
            <a:ext cx="122873" cy="572810"/>
          </a:xfrm>
          <a:prstGeom prst="roundRect">
            <a:avLst>
              <a:gd name="adj" fmla="val 4203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9183410" y="5448419"/>
            <a:ext cx="368856" cy="368856"/>
          </a:xfrm>
          <a:prstGeom prst="roundRect">
            <a:avLst>
              <a:gd name="adj" fmla="val 12395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75564" y="5540573"/>
            <a:ext cx="184428" cy="184428"/>
          </a:xfrm>
          <a:prstGeom prst="rect">
            <a:avLst/>
          </a:prstGeom>
        </p:spPr>
      </p:pic>
      <p:sp>
        <p:nvSpPr>
          <p:cNvPr id="67" name="Text 60"/>
          <p:cNvSpPr/>
          <p:nvPr/>
        </p:nvSpPr>
        <p:spPr>
          <a:xfrm>
            <a:off x="9675138" y="5467588"/>
            <a:ext cx="1537097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0.96703</a:t>
            </a:r>
            <a:endParaRPr lang="en-US" sz="1200" dirty="0"/>
          </a:p>
        </p:txBody>
      </p:sp>
      <p:sp>
        <p:nvSpPr>
          <p:cNvPr id="68" name="Text 61"/>
          <p:cNvSpPr/>
          <p:nvPr/>
        </p:nvSpPr>
        <p:spPr>
          <a:xfrm>
            <a:off x="9675138" y="5782508"/>
            <a:ext cx="4206240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데이터 정제 (Best!)</a:t>
            </a:r>
            <a:endParaRPr lang="en-US" sz="950" dirty="0"/>
          </a:p>
        </p:txBody>
      </p:sp>
      <p:sp>
        <p:nvSpPr>
          <p:cNvPr id="69" name="Shape 62"/>
          <p:cNvSpPr/>
          <p:nvPr/>
        </p:nvSpPr>
        <p:spPr>
          <a:xfrm>
            <a:off x="756642" y="6378535"/>
            <a:ext cx="4290417" cy="993815"/>
          </a:xfrm>
          <a:prstGeom prst="roundRect">
            <a:avLst>
              <a:gd name="adj" fmla="val 519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0" name="Text 63"/>
          <p:cNvSpPr/>
          <p:nvPr/>
        </p:nvSpPr>
        <p:spPr>
          <a:xfrm>
            <a:off x="887135" y="6509028"/>
            <a:ext cx="1537097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제출 #3: 패러다임 전환</a:t>
            </a:r>
            <a:endParaRPr lang="en-US" sz="1200" dirty="0"/>
          </a:p>
        </p:txBody>
      </p:sp>
      <p:sp>
        <p:nvSpPr>
          <p:cNvPr id="71" name="Text 64"/>
          <p:cNvSpPr/>
          <p:nvPr/>
        </p:nvSpPr>
        <p:spPr>
          <a:xfrm>
            <a:off x="887135" y="6774775"/>
            <a:ext cx="4029432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End-to-end → 2-Stage Pipeline</a:t>
            </a:r>
            <a:endParaRPr lang="en-US" sz="950" dirty="0"/>
          </a:p>
        </p:txBody>
      </p:sp>
      <p:sp>
        <p:nvSpPr>
          <p:cNvPr id="72" name="Text 65"/>
          <p:cNvSpPr/>
          <p:nvPr/>
        </p:nvSpPr>
        <p:spPr>
          <a:xfrm>
            <a:off x="887135" y="7045166"/>
            <a:ext cx="4029432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+0.098 (12%) 향상</a:t>
            </a:r>
            <a:endParaRPr lang="en-US" sz="950" dirty="0"/>
          </a:p>
        </p:txBody>
      </p:sp>
      <p:sp>
        <p:nvSpPr>
          <p:cNvPr id="73" name="Shape 66"/>
          <p:cNvSpPr/>
          <p:nvPr/>
        </p:nvSpPr>
        <p:spPr>
          <a:xfrm>
            <a:off x="5169932" y="6378535"/>
            <a:ext cx="4290417" cy="993815"/>
          </a:xfrm>
          <a:prstGeom prst="roundRect">
            <a:avLst>
              <a:gd name="adj" fmla="val 519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4" name="Text 67"/>
          <p:cNvSpPr/>
          <p:nvPr/>
        </p:nvSpPr>
        <p:spPr>
          <a:xfrm>
            <a:off x="5300424" y="6509028"/>
            <a:ext cx="1537097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제출 #4: 데이터 품질</a:t>
            </a:r>
            <a:endParaRPr lang="en-US" sz="1200" dirty="0"/>
          </a:p>
        </p:txBody>
      </p:sp>
      <p:sp>
        <p:nvSpPr>
          <p:cNvPr id="75" name="Text 68"/>
          <p:cNvSpPr/>
          <p:nvPr/>
        </p:nvSpPr>
        <p:spPr>
          <a:xfrm>
            <a:off x="5300424" y="6774775"/>
            <a:ext cx="4029432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Detector 데이터 정제 및 개선</a:t>
            </a:r>
            <a:endParaRPr lang="en-US" sz="950" dirty="0"/>
          </a:p>
        </p:txBody>
      </p:sp>
      <p:sp>
        <p:nvSpPr>
          <p:cNvPr id="76" name="Text 69"/>
          <p:cNvSpPr/>
          <p:nvPr/>
        </p:nvSpPr>
        <p:spPr>
          <a:xfrm>
            <a:off x="5300424" y="7045166"/>
            <a:ext cx="4029432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+0.043 (5%) 향상</a:t>
            </a:r>
            <a:endParaRPr lang="en-US" sz="950" dirty="0"/>
          </a:p>
        </p:txBody>
      </p:sp>
      <p:sp>
        <p:nvSpPr>
          <p:cNvPr id="77" name="Shape 70"/>
          <p:cNvSpPr/>
          <p:nvPr/>
        </p:nvSpPr>
        <p:spPr>
          <a:xfrm>
            <a:off x="9583222" y="6378535"/>
            <a:ext cx="4290417" cy="993815"/>
          </a:xfrm>
          <a:prstGeom prst="roundRect">
            <a:avLst>
              <a:gd name="adj" fmla="val 519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8" name="Text 71"/>
          <p:cNvSpPr/>
          <p:nvPr/>
        </p:nvSpPr>
        <p:spPr>
          <a:xfrm>
            <a:off x="9713714" y="6509028"/>
            <a:ext cx="1537097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제출 #6: 디테일 개선</a:t>
            </a:r>
            <a:endParaRPr lang="en-US" sz="1200" dirty="0"/>
          </a:p>
        </p:txBody>
      </p:sp>
      <p:sp>
        <p:nvSpPr>
          <p:cNvPr id="79" name="Text 72"/>
          <p:cNvSpPr/>
          <p:nvPr/>
        </p:nvSpPr>
        <p:spPr>
          <a:xfrm>
            <a:off x="9713714" y="6774775"/>
            <a:ext cx="4029432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분류 모델 교체 및 정제</a:t>
            </a:r>
            <a:endParaRPr lang="en-US" sz="950" dirty="0"/>
          </a:p>
        </p:txBody>
      </p:sp>
      <p:sp>
        <p:nvSpPr>
          <p:cNvPr id="80" name="Text 73"/>
          <p:cNvSpPr/>
          <p:nvPr/>
        </p:nvSpPr>
        <p:spPr>
          <a:xfrm>
            <a:off x="9713714" y="7045166"/>
            <a:ext cx="4029432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+0.002 (0.2%) 향상</a:t>
            </a:r>
            <a:endParaRPr lang="en-US" sz="950" dirty="0"/>
          </a:p>
        </p:txBody>
      </p:sp>
      <p:sp>
        <p:nvSpPr>
          <p:cNvPr id="81" name="Text 74"/>
          <p:cNvSpPr/>
          <p:nvPr/>
        </p:nvSpPr>
        <p:spPr>
          <a:xfrm>
            <a:off x="756642" y="7510582"/>
            <a:ext cx="13117116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각 제출마다 명확한 가설과 실험을 통해 점진적으로 개선했습니다. 2-Stage 전환이 가장 큰 영향을 미쳤으며, 이후 데이터 품질 개선과 모델 최적화를 통해 추가 향상을 이뤘습니다.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1846" y="346115"/>
            <a:ext cx="1957864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베스트 모델 상세 분석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81846" y="622102"/>
            <a:ext cx="1695807" cy="146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0.96703 달성 - 데이터셋 정제의 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81846" y="964525"/>
            <a:ext cx="1600081" cy="12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정제 기준 (cleanup_detector_data.py)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81846" y="1174790"/>
            <a:ext cx="6737866" cy="1495187"/>
          </a:xfrm>
          <a:prstGeom prst="roundRect">
            <a:avLst>
              <a:gd name="adj" fmla="val 2200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478036" y="1174790"/>
            <a:ext cx="6745486" cy="1495187"/>
          </a:xfrm>
          <a:prstGeom prst="roundRect">
            <a:avLst>
              <a:gd name="adj" fmla="val 786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556260" y="1233487"/>
            <a:ext cx="6589038" cy="1377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BBOX_COUNT_RANGE = (3, 4)  </a:t>
            </a:r>
            <a:endParaRPr lang="en-US" sz="600" dirty="0"/>
          </a:p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Kaggle 테스트와 동일</a:t>
            </a:r>
            <a:endParaRPr lang="en-US" sz="600" dirty="0"/>
          </a:p>
          <a:p>
            <a:pPr algn="l" indent="0" marL="0">
              <a:lnSpc>
                <a:spcPts val="950"/>
              </a:lnSpc>
              <a:buNone/>
            </a:pPr>
            <a:endParaRPr lang="en-US" sz="600" dirty="0"/>
          </a:p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IOU_THRESHOLD = 0.7  </a:t>
            </a:r>
            <a:endParaRPr lang="en-US" sz="600" dirty="0"/>
          </a:p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중복 제거</a:t>
            </a:r>
            <a:endParaRPr lang="en-US" sz="600" dirty="0"/>
          </a:p>
          <a:p>
            <a:pPr algn="l" indent="0" marL="0">
              <a:lnSpc>
                <a:spcPts val="950"/>
              </a:lnSpc>
              <a:buNone/>
            </a:pPr>
            <a:endParaRPr lang="en-US" sz="600" dirty="0"/>
          </a:p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MIN_BBOX_SIZE = 50  </a:t>
            </a:r>
            <a:endParaRPr lang="en-US" sz="600" dirty="0"/>
          </a:p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너무 작은 bbox 제외</a:t>
            </a:r>
            <a:endParaRPr lang="en-US" sz="600" dirty="0"/>
          </a:p>
          <a:p>
            <a:pPr algn="l" indent="0" marL="0">
              <a:lnSpc>
                <a:spcPts val="950"/>
              </a:lnSpc>
              <a:buNone/>
            </a:pPr>
            <a:endParaRPr lang="en-US" sz="600" dirty="0"/>
          </a:p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MAX_BBOX_SIZE = 500  </a:t>
            </a:r>
            <a:endParaRPr lang="en-US" sz="600" dirty="0"/>
          </a:p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너무 큰 bbox 제외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481846" y="2757964"/>
            <a:ext cx="6737866" cy="332423"/>
          </a:xfrm>
          <a:prstGeom prst="roundRect">
            <a:avLst>
              <a:gd name="adj" fmla="val 9895"/>
            </a:avLst>
          </a:prstGeom>
          <a:solidFill>
            <a:srgbClr val="CFE2D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070" y="2863453"/>
            <a:ext cx="97869" cy="782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163" y="2855714"/>
            <a:ext cx="6405324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핵심 아이디어:</a:t>
            </a:r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테스트 환경과 유사한 3~4개 bbox 이미지만 선별하여 학습 데이터의 분포를 테스트 분포에 맞춤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81846" y="3178373"/>
            <a:ext cx="6737866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이 정제 과정을 통해 약 10,000개의 이미지에서 7,000개의 고품질 이미지만 선별했습니다. 단순히 데이터 양을 늘리는 것보다 품질을 높이는 것이 더 효과적이었습니다.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7418308" y="964525"/>
            <a:ext cx="978932" cy="12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정제 전후 비교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7418308" y="1174790"/>
            <a:ext cx="6737866" cy="1186815"/>
          </a:xfrm>
          <a:prstGeom prst="roundRect">
            <a:avLst>
              <a:gd name="adj" fmla="val 277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25928" y="1182410"/>
            <a:ext cx="6721912" cy="2343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504867" y="1236940"/>
            <a:ext cx="2080141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항목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9749076" y="1236940"/>
            <a:ext cx="2076331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정제 전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11989475" y="1236940"/>
            <a:ext cx="2080141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정제 후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7425928" y="1416725"/>
            <a:ext cx="6721912" cy="2343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504867" y="1471255"/>
            <a:ext cx="2080141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이미지 수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9749076" y="1471255"/>
            <a:ext cx="2076331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~10,000개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11989475" y="1471255"/>
            <a:ext cx="2080141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~7,000개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7425928" y="1651040"/>
            <a:ext cx="6721912" cy="2343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504867" y="1705570"/>
            <a:ext cx="2080141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품질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9749076" y="1705570"/>
            <a:ext cx="2076331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혼재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11989475" y="1705570"/>
            <a:ext cx="2080141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고품질만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7425928" y="1885355"/>
            <a:ext cx="6721912" cy="2343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7504867" y="1939885"/>
            <a:ext cx="2080141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bbox 개수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9749076" y="1939885"/>
            <a:ext cx="2076331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1~10개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11989475" y="1939885"/>
            <a:ext cx="2080141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3~4개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7425928" y="2119670"/>
            <a:ext cx="6721912" cy="2343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7504867" y="2174200"/>
            <a:ext cx="2080141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학습 안정성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9749076" y="2174200"/>
            <a:ext cx="2076331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보통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11989475" y="2174200"/>
            <a:ext cx="2080141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우수</a:t>
            </a:r>
            <a:endParaRPr lang="en-US" sz="60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308" y="2449592"/>
            <a:ext cx="1409581" cy="783074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81846" y="3491389"/>
            <a:ext cx="978932" cy="12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핵심 인사이트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481846" y="3819049"/>
            <a:ext cx="6737866" cy="497443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74226" y="3819049"/>
            <a:ext cx="30480" cy="497443"/>
          </a:xfrm>
          <a:prstGeom prst="roundRect">
            <a:avLst>
              <a:gd name="adj" fmla="val 107914"/>
            </a:avLst>
          </a:prstGeom>
          <a:solidFill>
            <a:srgbClr val="437066"/>
          </a:solidFill>
          <a:ln/>
        </p:spPr>
      </p:sp>
      <p:sp>
        <p:nvSpPr>
          <p:cNvPr id="38" name="Text 34"/>
          <p:cNvSpPr/>
          <p:nvPr/>
        </p:nvSpPr>
        <p:spPr>
          <a:xfrm>
            <a:off x="590550" y="3904893"/>
            <a:ext cx="978932" cy="12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테스트 환경 매칭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590550" y="4105394"/>
            <a:ext cx="6543318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학습 데이터의 분포를 테스트 데이터와 유사하게 맞추는 것이 성능 향상의 핵심이었습니다. bbox 개수를 3~4개로 제한한 것이 결정적이었습니다.</a:t>
            </a:r>
            <a:endParaRPr lang="en-US" sz="600" dirty="0"/>
          </a:p>
        </p:txBody>
      </p:sp>
      <p:sp>
        <p:nvSpPr>
          <p:cNvPr id="40" name="Shape 36"/>
          <p:cNvSpPr/>
          <p:nvPr/>
        </p:nvSpPr>
        <p:spPr>
          <a:xfrm>
            <a:off x="481846" y="4394716"/>
            <a:ext cx="6737866" cy="497443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74226" y="4394716"/>
            <a:ext cx="30480" cy="497443"/>
          </a:xfrm>
          <a:prstGeom prst="roundRect">
            <a:avLst>
              <a:gd name="adj" fmla="val 107914"/>
            </a:avLst>
          </a:prstGeom>
          <a:solidFill>
            <a:srgbClr val="437066"/>
          </a:solidFill>
          <a:ln/>
        </p:spPr>
      </p:sp>
      <p:sp>
        <p:nvSpPr>
          <p:cNvPr id="42" name="Text 38"/>
          <p:cNvSpPr/>
          <p:nvPr/>
        </p:nvSpPr>
        <p:spPr>
          <a:xfrm>
            <a:off x="590550" y="4480560"/>
            <a:ext cx="978932" cy="12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품질 우선 전략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590550" y="4681061"/>
            <a:ext cx="6543318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품질 낮은 데이터를 제거하여 학습 효율을 향상시켰습니다. 노이즈가 많은 10,000개보다 깨끗한 7,000개가 더 나았습니다.</a:t>
            </a:r>
            <a:endParaRPr lang="en-US" sz="600" dirty="0"/>
          </a:p>
        </p:txBody>
      </p:sp>
      <p:sp>
        <p:nvSpPr>
          <p:cNvPr id="44" name="Shape 40"/>
          <p:cNvSpPr/>
          <p:nvPr/>
        </p:nvSpPr>
        <p:spPr>
          <a:xfrm>
            <a:off x="481846" y="4970383"/>
            <a:ext cx="6737866" cy="497443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74226" y="4970383"/>
            <a:ext cx="30480" cy="497443"/>
          </a:xfrm>
          <a:prstGeom prst="roundRect">
            <a:avLst>
              <a:gd name="adj" fmla="val 107914"/>
            </a:avLst>
          </a:prstGeom>
          <a:solidFill>
            <a:srgbClr val="437066"/>
          </a:solidFill>
          <a:ln/>
        </p:spPr>
      </p:sp>
      <p:sp>
        <p:nvSpPr>
          <p:cNvPr id="46" name="Text 42"/>
          <p:cNvSpPr/>
          <p:nvPr/>
        </p:nvSpPr>
        <p:spPr>
          <a:xfrm>
            <a:off x="590550" y="5056227"/>
            <a:ext cx="978932" cy="12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모델 선택의 중립성</a:t>
            </a:r>
            <a:endParaRPr lang="en-US" sz="750" dirty="0"/>
          </a:p>
        </p:txBody>
      </p:sp>
      <p:sp>
        <p:nvSpPr>
          <p:cNvPr id="47" name="Text 43"/>
          <p:cNvSpPr/>
          <p:nvPr/>
        </p:nvSpPr>
        <p:spPr>
          <a:xfrm>
            <a:off x="590550" y="5256728"/>
            <a:ext cx="6543318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Classifier 모델(ConvNeXt vs YOLO-cls)은 성능 차이가 거의 없었습니다. 데이터 품질이 더 중요했습니다.</a:t>
            </a:r>
            <a:endParaRPr lang="en-US" sz="600" dirty="0"/>
          </a:p>
        </p:txBody>
      </p:sp>
      <p:sp>
        <p:nvSpPr>
          <p:cNvPr id="48" name="Text 44"/>
          <p:cNvSpPr/>
          <p:nvPr/>
        </p:nvSpPr>
        <p:spPr>
          <a:xfrm>
            <a:off x="7418308" y="3809286"/>
            <a:ext cx="978932" cy="12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재현 가능한 파이프라인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7418308" y="4019550"/>
            <a:ext cx="78224" cy="97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600" dirty="0"/>
          </a:p>
        </p:txBody>
      </p:sp>
      <p:sp>
        <p:nvSpPr>
          <p:cNvPr id="50" name="Shape 46"/>
          <p:cNvSpPr/>
          <p:nvPr/>
        </p:nvSpPr>
        <p:spPr>
          <a:xfrm>
            <a:off x="7418308" y="4144923"/>
            <a:ext cx="6737866" cy="762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51" name="Text 47"/>
          <p:cNvSpPr/>
          <p:nvPr/>
        </p:nvSpPr>
        <p:spPr>
          <a:xfrm>
            <a:off x="7418308" y="4199215"/>
            <a:ext cx="978932" cy="12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Detector 데이터 추출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7418308" y="4399717"/>
            <a:ext cx="6737866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extract_for_detector.py</a:t>
            </a:r>
            <a:endParaRPr lang="en-US" sz="600" dirty="0"/>
          </a:p>
        </p:txBody>
      </p:sp>
      <p:sp>
        <p:nvSpPr>
          <p:cNvPr id="53" name="Text 49"/>
          <p:cNvSpPr/>
          <p:nvPr/>
        </p:nvSpPr>
        <p:spPr>
          <a:xfrm>
            <a:off x="7418308" y="4661892"/>
            <a:ext cx="78224" cy="97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600" dirty="0"/>
          </a:p>
        </p:txBody>
      </p:sp>
      <p:sp>
        <p:nvSpPr>
          <p:cNvPr id="54" name="Shape 50"/>
          <p:cNvSpPr/>
          <p:nvPr/>
        </p:nvSpPr>
        <p:spPr>
          <a:xfrm>
            <a:off x="7418308" y="4787265"/>
            <a:ext cx="6737866" cy="762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55" name="Text 51"/>
          <p:cNvSpPr/>
          <p:nvPr/>
        </p:nvSpPr>
        <p:spPr>
          <a:xfrm>
            <a:off x="7418308" y="4841558"/>
            <a:ext cx="978932" cy="12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데이터 정제</a:t>
            </a:r>
            <a:endParaRPr lang="en-US" sz="750" dirty="0"/>
          </a:p>
        </p:txBody>
      </p:sp>
      <p:sp>
        <p:nvSpPr>
          <p:cNvPr id="56" name="Text 52"/>
          <p:cNvSpPr/>
          <p:nvPr/>
        </p:nvSpPr>
        <p:spPr>
          <a:xfrm>
            <a:off x="7418308" y="5042059"/>
            <a:ext cx="6737866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cleanup_detector_data.py --delete</a:t>
            </a:r>
            <a:endParaRPr lang="en-US" sz="600" dirty="0"/>
          </a:p>
        </p:txBody>
      </p:sp>
      <p:sp>
        <p:nvSpPr>
          <p:cNvPr id="57" name="Text 53"/>
          <p:cNvSpPr/>
          <p:nvPr/>
        </p:nvSpPr>
        <p:spPr>
          <a:xfrm>
            <a:off x="7418308" y="5304234"/>
            <a:ext cx="78224" cy="97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600" dirty="0"/>
          </a:p>
        </p:txBody>
      </p:sp>
      <p:sp>
        <p:nvSpPr>
          <p:cNvPr id="58" name="Shape 54"/>
          <p:cNvSpPr/>
          <p:nvPr/>
        </p:nvSpPr>
        <p:spPr>
          <a:xfrm>
            <a:off x="7418308" y="5429607"/>
            <a:ext cx="6737866" cy="762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59" name="Text 55"/>
          <p:cNvSpPr/>
          <p:nvPr/>
        </p:nvSpPr>
        <p:spPr>
          <a:xfrm>
            <a:off x="7418308" y="5483900"/>
            <a:ext cx="978932" cy="12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Detector 학습</a:t>
            </a:r>
            <a:endParaRPr lang="en-US" sz="750" dirty="0"/>
          </a:p>
        </p:txBody>
      </p:sp>
      <p:sp>
        <p:nvSpPr>
          <p:cNvPr id="60" name="Text 56"/>
          <p:cNvSpPr/>
          <p:nvPr/>
        </p:nvSpPr>
        <p:spPr>
          <a:xfrm>
            <a:off x="7418308" y="5684401"/>
            <a:ext cx="6737866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yolo11m_detector.py</a:t>
            </a:r>
            <a:endParaRPr lang="en-US" sz="600" dirty="0"/>
          </a:p>
        </p:txBody>
      </p:sp>
      <p:sp>
        <p:nvSpPr>
          <p:cNvPr id="61" name="Text 57"/>
          <p:cNvSpPr/>
          <p:nvPr/>
        </p:nvSpPr>
        <p:spPr>
          <a:xfrm>
            <a:off x="7418308" y="5946577"/>
            <a:ext cx="78224" cy="97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600" dirty="0"/>
          </a:p>
        </p:txBody>
      </p:sp>
      <p:sp>
        <p:nvSpPr>
          <p:cNvPr id="62" name="Shape 58"/>
          <p:cNvSpPr/>
          <p:nvPr/>
        </p:nvSpPr>
        <p:spPr>
          <a:xfrm>
            <a:off x="7418308" y="6071949"/>
            <a:ext cx="6737866" cy="762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63" name="Text 59"/>
          <p:cNvSpPr/>
          <p:nvPr/>
        </p:nvSpPr>
        <p:spPr>
          <a:xfrm>
            <a:off x="7418308" y="6126242"/>
            <a:ext cx="1173837" cy="12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Classifier 데이터 추출 &amp; 정제</a:t>
            </a:r>
            <a:endParaRPr lang="en-US" sz="750" dirty="0"/>
          </a:p>
        </p:txBody>
      </p:sp>
      <p:sp>
        <p:nvSpPr>
          <p:cNvPr id="64" name="Text 60"/>
          <p:cNvSpPr/>
          <p:nvPr/>
        </p:nvSpPr>
        <p:spPr>
          <a:xfrm>
            <a:off x="7418308" y="6326743"/>
            <a:ext cx="6737866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extract_and_crop.py</a:t>
            </a:r>
            <a:endParaRPr lang="en-US" sz="600" dirty="0"/>
          </a:p>
        </p:txBody>
      </p:sp>
      <p:sp>
        <p:nvSpPr>
          <p:cNvPr id="65" name="Text 61"/>
          <p:cNvSpPr/>
          <p:nvPr/>
        </p:nvSpPr>
        <p:spPr>
          <a:xfrm>
            <a:off x="7418308" y="6588919"/>
            <a:ext cx="78224" cy="97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05</a:t>
            </a:r>
            <a:endParaRPr lang="en-US" sz="600" dirty="0"/>
          </a:p>
        </p:txBody>
      </p:sp>
      <p:sp>
        <p:nvSpPr>
          <p:cNvPr id="66" name="Shape 62"/>
          <p:cNvSpPr/>
          <p:nvPr/>
        </p:nvSpPr>
        <p:spPr>
          <a:xfrm>
            <a:off x="7418308" y="6714292"/>
            <a:ext cx="6737866" cy="762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67" name="Text 63"/>
          <p:cNvSpPr/>
          <p:nvPr/>
        </p:nvSpPr>
        <p:spPr>
          <a:xfrm>
            <a:off x="7418308" y="6768584"/>
            <a:ext cx="978932" cy="12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Classifier 학습</a:t>
            </a:r>
            <a:endParaRPr lang="en-US" sz="750" dirty="0"/>
          </a:p>
        </p:txBody>
      </p:sp>
      <p:sp>
        <p:nvSpPr>
          <p:cNvPr id="68" name="Text 64"/>
          <p:cNvSpPr/>
          <p:nvPr/>
        </p:nvSpPr>
        <p:spPr>
          <a:xfrm>
            <a:off x="7418308" y="6969085"/>
            <a:ext cx="6737866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convnext_classifier.py</a:t>
            </a:r>
            <a:endParaRPr lang="en-US" sz="600" dirty="0"/>
          </a:p>
        </p:txBody>
      </p:sp>
      <p:sp>
        <p:nvSpPr>
          <p:cNvPr id="69" name="Text 65"/>
          <p:cNvSpPr/>
          <p:nvPr/>
        </p:nvSpPr>
        <p:spPr>
          <a:xfrm>
            <a:off x="7418308" y="7231261"/>
            <a:ext cx="78224" cy="97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06</a:t>
            </a:r>
            <a:endParaRPr lang="en-US" sz="600" dirty="0"/>
          </a:p>
        </p:txBody>
      </p:sp>
      <p:sp>
        <p:nvSpPr>
          <p:cNvPr id="70" name="Shape 66"/>
          <p:cNvSpPr/>
          <p:nvPr/>
        </p:nvSpPr>
        <p:spPr>
          <a:xfrm>
            <a:off x="7418308" y="7356634"/>
            <a:ext cx="6737866" cy="762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71" name="Text 67"/>
          <p:cNvSpPr/>
          <p:nvPr/>
        </p:nvSpPr>
        <p:spPr>
          <a:xfrm>
            <a:off x="7418308" y="7410926"/>
            <a:ext cx="978932" cy="12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추론 및 제출</a:t>
            </a:r>
            <a:endParaRPr lang="en-US" sz="750" dirty="0"/>
          </a:p>
        </p:txBody>
      </p:sp>
      <p:sp>
        <p:nvSpPr>
          <p:cNvPr id="72" name="Text 68"/>
          <p:cNvSpPr/>
          <p:nvPr/>
        </p:nvSpPr>
        <p:spPr>
          <a:xfrm>
            <a:off x="7418308" y="7611428"/>
            <a:ext cx="6737866" cy="125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submit_v2 --det_conf 0.05 --cls_conf 0.3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095" y="523161"/>
            <a:ext cx="3087886" cy="38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실패 사례와 교훈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0095" y="958453"/>
            <a:ext cx="255496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실패를 통해 배운 소중한 인사이트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60095" y="1375291"/>
            <a:ext cx="6493312" cy="1655683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5335" y="1390531"/>
            <a:ext cx="6462832" cy="370523"/>
          </a:xfrm>
          <a:prstGeom prst="roundRect">
            <a:avLst>
              <a:gd name="adj" fmla="val 9066"/>
            </a:avLst>
          </a:prstGeom>
          <a:solidFill>
            <a:srgbClr val="DFECE9"/>
          </a:solidFill>
          <a:ln/>
        </p:spPr>
      </p:sp>
      <p:sp>
        <p:nvSpPr>
          <p:cNvPr id="6" name="Text 4"/>
          <p:cNvSpPr/>
          <p:nvPr/>
        </p:nvSpPr>
        <p:spPr>
          <a:xfrm>
            <a:off x="3914061" y="1456134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98803" y="1884521"/>
            <a:ext cx="1543883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AIHub 복합경구제 실패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8803" y="2151578"/>
            <a:ext cx="6215896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시도: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복합경구제 데이터 활용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8803" y="2423160"/>
            <a:ext cx="6215896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결과: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bbox 1개만 검출되는 치명적 문제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98803" y="2694742"/>
            <a:ext cx="6215896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교훈: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데이터 구조를 완벽히 이해해야 함. 이미지당 라벨 개수, bbox 특성 등을 사전에 분석 필수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76874" y="1375291"/>
            <a:ext cx="6493431" cy="1655683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92114" y="1390531"/>
            <a:ext cx="6462951" cy="370523"/>
          </a:xfrm>
          <a:prstGeom prst="roundRect">
            <a:avLst>
              <a:gd name="adj" fmla="val 9066"/>
            </a:avLst>
          </a:prstGeom>
          <a:solidFill>
            <a:srgbClr val="DFECE9"/>
          </a:solidFill>
          <a:ln/>
        </p:spPr>
      </p:sp>
      <p:sp>
        <p:nvSpPr>
          <p:cNvPr id="13" name="Text 11"/>
          <p:cNvSpPr/>
          <p:nvPr/>
        </p:nvSpPr>
        <p:spPr>
          <a:xfrm>
            <a:off x="10530959" y="1456134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515582" y="1884521"/>
            <a:ext cx="1543883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ROI Crop 실패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15582" y="2151578"/>
            <a:ext cx="62160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시도: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알약 영역만 크롭하여 학습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515582" y="2423160"/>
            <a:ext cx="62160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결과: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bbox를 이미지 전체로 설정하는 버그로 검출 불가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515582" y="2694742"/>
            <a:ext cx="62160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교훈: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크롭 로직을 반드시 검증해야 함. 코드 리뷰와 시각적 확인이 중요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0095" y="3154442"/>
            <a:ext cx="6493312" cy="1655683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5335" y="3169682"/>
            <a:ext cx="6462832" cy="370523"/>
          </a:xfrm>
          <a:prstGeom prst="roundRect">
            <a:avLst>
              <a:gd name="adj" fmla="val 9066"/>
            </a:avLst>
          </a:prstGeom>
          <a:solidFill>
            <a:srgbClr val="DFECE9"/>
          </a:solidFill>
          <a:ln/>
        </p:spPr>
      </p:sp>
      <p:sp>
        <p:nvSpPr>
          <p:cNvPr id="20" name="Text 18"/>
          <p:cNvSpPr/>
          <p:nvPr/>
        </p:nvSpPr>
        <p:spPr>
          <a:xfrm>
            <a:off x="3914061" y="3235285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98803" y="3663672"/>
            <a:ext cx="1543883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imgsz 1280 실패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8803" y="3930729"/>
            <a:ext cx="6215896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시도: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고해상도(1280) 학습 및 추론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98803" y="4202311"/>
            <a:ext cx="6215896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결과: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0.713으로 오히려 하락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98803" y="4473893"/>
            <a:ext cx="6215896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교훈: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학습과 추론의 설정이 일치해야 함. imgsz는 성능에 민감한 하이퍼파라미터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76874" y="3154442"/>
            <a:ext cx="6493431" cy="1655683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92114" y="3169682"/>
            <a:ext cx="6462951" cy="370523"/>
          </a:xfrm>
          <a:prstGeom prst="roundRect">
            <a:avLst>
              <a:gd name="adj" fmla="val 9066"/>
            </a:avLst>
          </a:prstGeom>
          <a:solidFill>
            <a:srgbClr val="DFECE9"/>
          </a:solidFill>
          <a:ln/>
        </p:spPr>
      </p:sp>
      <p:sp>
        <p:nvSpPr>
          <p:cNvPr id="27" name="Text 25"/>
          <p:cNvSpPr/>
          <p:nvPr/>
        </p:nvSpPr>
        <p:spPr>
          <a:xfrm>
            <a:off x="10530959" y="3235285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515582" y="3663672"/>
            <a:ext cx="1543883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TTA 적용 실패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15582" y="3930729"/>
            <a:ext cx="62160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시도: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Test Time Augmentation으로 앙상블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515582" y="4202311"/>
            <a:ext cx="62160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결과: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0.533으로 급락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15582" y="4473893"/>
            <a:ext cx="62160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교훈: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mAP@[0.75:0.95]는 bbox 정밀도가 매우 중요. TTA는 bbox를 흐리게 만들어 오히려 역효과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0095" y="5072539"/>
            <a:ext cx="1543883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핵심 교훈 요약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60095" y="5404485"/>
            <a:ext cx="277892" cy="277892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6410" y="5427643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161455" y="5446871"/>
            <a:ext cx="1543883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데이터 품질 &gt; 데이터 양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61455" y="5763339"/>
            <a:ext cx="6003131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많은 데이터보다 좋은 데이터가 중요합니다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60095" y="6207800"/>
            <a:ext cx="277892" cy="277892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6410" y="6230957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1161455" y="6250186"/>
            <a:ext cx="1543883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실패도 학습 기회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61455" y="6566654"/>
            <a:ext cx="6003131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0.014 실패가 2-Stage 아이디어의 계기가 되었습니다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60095" y="7011114"/>
            <a:ext cx="277892" cy="277892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6410" y="7034272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1161455" y="7053501"/>
            <a:ext cx="1543883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빠른 실험 사이클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61455" y="7369969"/>
            <a:ext cx="6003131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빠른 실패 → 빠른 피드백 → 빠른 방향 전환</a:t>
            </a:r>
            <a:endParaRPr lang="en-US" sz="950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3434" y="5088017"/>
            <a:ext cx="2223254" cy="1235154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7473434" y="6462117"/>
            <a:ext cx="6404491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3주간의 프로젝트 기간 동안 수많은 실패를 경험했지만, 각 실패에서 귀중한 교훈을 얻었습니다. 특히 데이터 구조 이해의 중요성, 코드 검증의 필요성, 평가 지표에 맞는 전략 수립의 중요성을 깊이 깨달았습니다.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13053"/>
            <a:ext cx="3473291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비즈니스 방향성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93790" y="1102638"/>
            <a:ext cx="249054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기술을 넘어 실제 가치 창출로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3790" y="1710214"/>
            <a:ext cx="2031921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프로젝트 배경 (12/18 팀회의)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02149" y="2083475"/>
            <a:ext cx="6143625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"유저가 모바일 앱으로 복용 중인 약 사진을 찍으면, 해당 약에 대한 정보를 제공하는 서비스"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3790" y="2083475"/>
            <a:ext cx="15240" cy="22229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2461974"/>
            <a:ext cx="6351984" cy="44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기술적 성과를 넘어, 실제 사용자에게 어떤 가치를 제공할 수 있을지 고민했습니다. AI 알약 인식 기술의 사회적 영향력과 비즈니스 가능성을 분석했습니다.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62764"/>
            <a:ext cx="2500670" cy="13892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2246" y="1710214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타겟 시장 분석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492246" y="2083475"/>
            <a:ext cx="6351984" cy="1227892"/>
          </a:xfrm>
          <a:prstGeom prst="roundRect">
            <a:avLst>
              <a:gd name="adj" fmla="val 475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9866" y="2091095"/>
            <a:ext cx="6336030" cy="4042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639645" y="2182058"/>
            <a:ext cx="1830229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시장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755148" y="2182058"/>
            <a:ext cx="1826419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타겟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866840" y="2182058"/>
            <a:ext cx="1830229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가치 제안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499866" y="2495312"/>
            <a:ext cx="6336030" cy="4042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639645" y="2586276"/>
            <a:ext cx="1830229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B2C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755148" y="2586276"/>
            <a:ext cx="1826419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고령자 (다약제 복용층)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866840" y="2586276"/>
            <a:ext cx="1830229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알약 식별, 효능 안내, 복약 관리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499866" y="2899529"/>
            <a:ext cx="6336030" cy="4042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639645" y="2990493"/>
            <a:ext cx="1830229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B2B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755148" y="2990493"/>
            <a:ext cx="1826419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응급구조대, 수사기관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866840" y="2990493"/>
            <a:ext cx="1830229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비전문가의 신속한 약물 식별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492246" y="3467576"/>
            <a:ext cx="6351984" cy="44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B2C 시장은 공익성이 높지만 수익화가 어려울 수 있습니다. 반면 B2B 시장은 명확한 니즈와 지불 의사가 있어 비즈니스 모델로 유망합니다.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93790" y="4816554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비즈니스 모델 제안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793790" y="5241965"/>
            <a:ext cx="4255056" cy="1628180"/>
          </a:xfrm>
          <a:prstGeom prst="roundRect">
            <a:avLst>
              <a:gd name="adj" fmla="val 358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0237" y="5388412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B2C: 공익 서비스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940237" y="5688806"/>
            <a:ext cx="396216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고령자 대상 무료 앱 제공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40237" y="5959673"/>
            <a:ext cx="396216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알약 식별 및 복약 정보 제공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940237" y="6230541"/>
            <a:ext cx="396216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복약 알림 및 상호작용 체크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940237" y="6501408"/>
            <a:ext cx="396216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제약사 광고를 통한 수익화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187672" y="5241965"/>
            <a:ext cx="4255056" cy="1628180"/>
          </a:xfrm>
          <a:prstGeom prst="roundRect">
            <a:avLst>
              <a:gd name="adj" fmla="val 358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34119" y="5388412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B2B: SaaS 모델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5334119" y="5688806"/>
            <a:ext cx="396216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응급구조대, 병원, 수사기관 대상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334119" y="5959673"/>
            <a:ext cx="396216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API 형태로 제공 (사용량 기반 과금)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334119" y="6230541"/>
            <a:ext cx="396216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고정밀 인식 엔진 라이선스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334119" y="6501408"/>
            <a:ext cx="396216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커스터마이징 및 온프레미스 옵션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9581555" y="5241965"/>
            <a:ext cx="4255056" cy="1628180"/>
          </a:xfrm>
          <a:prstGeom prst="roundRect">
            <a:avLst>
              <a:gd name="adj" fmla="val 358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728002" y="5388412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하이브리드 전략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9728002" y="5688806"/>
            <a:ext cx="396216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B2C로 사용자 기반 확보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9728002" y="5959673"/>
            <a:ext cx="396216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데이터 수집 및 모델 개선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9728002" y="6230541"/>
            <a:ext cx="396216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B2B로 수익 모델 구축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9728002" y="6501408"/>
            <a:ext cx="396216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공익성과 수익성의 균형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93790" y="7026354"/>
            <a:ext cx="13042821" cy="590193"/>
          </a:xfrm>
          <a:prstGeom prst="roundRect">
            <a:avLst>
              <a:gd name="adj" fmla="val 9887"/>
            </a:avLst>
          </a:prstGeom>
          <a:solidFill>
            <a:srgbClr val="CFE2DE"/>
          </a:solidFill>
          <a:ln/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17" y="7223046"/>
            <a:ext cx="173593" cy="138827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1245037" y="7199828"/>
            <a:ext cx="12452747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결론:</a:t>
            </a:r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B2C 공익성을 유지하면서 </a:t>
            </a:r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B2B SaaS 모델을 병행</a:t>
            </a:r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하는 하이브리드 전략을 권장합니다. 이는 사회적 가치와 경제적 지속가능성을 모두 달성할 수 있는 최적의 방향입니다.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2025-12-22T08:45:29Z</dcterms:created>
  <dcterms:modified xsi:type="dcterms:W3CDTF">2025-12-22T08:45:29Z</dcterms:modified>
</cp:coreProperties>
</file>